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9C48CF3-E9DD-42D8-ADCB-51A0C5F3DEE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DB4A2F-222D-4254-9560-FC84D51AAF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4BB509-0567-47C7-B938-15F9424C8B6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9A1141-6177-4E19-9F58-6403C58EB9D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296463-F5BA-43DF-9CE1-F270F8E0E77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817AF2-FD32-4ADE-9082-F2F098D87B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3F819D-6F0A-4AB4-90DB-B4BD22879BC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294324-1034-43C3-BF69-48DC9101F8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6DCCEA-097C-4B82-8B2A-717D216E8C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AA8D00-0246-475B-ACA9-F8C4B8F621C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3688F5-4132-4712-A42A-3ADF047A5CF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9692640" y="-1280160"/>
            <a:ext cx="4114080" cy="4114080"/>
          </a:xfrm>
          <a:prstGeom prst="ellipse">
            <a:avLst/>
          </a:prstGeom>
          <a:solidFill>
            <a:srgbClr val="028090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10607040" y="4206240"/>
            <a:ext cx="2925360" cy="2925360"/>
          </a:xfrm>
          <a:prstGeom prst="ellipse">
            <a:avLst/>
          </a:prstGeom>
          <a:solidFill>
            <a:srgbClr val="02c39a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731520" y="1417320"/>
            <a:ext cx="9143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97" strike="noStrike">
                <a:solidFill>
                  <a:srgbClr val="02c39a"/>
                </a:solidFill>
                <a:latin typeface="Calibri"/>
                <a:ea typeface="Calibri"/>
              </a:rPr>
              <a:t>MENSCH UND COMPUTER 2026  ·  STUDENT RESEARCH COMPETITION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31520" y="1874520"/>
            <a:ext cx="987480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4399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mbria"/>
                <a:ea typeface="Cambria"/>
              </a:rPr>
              <a:t>Monitoring and Understanding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4399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mbria"/>
                <a:ea typeface="Cambria"/>
              </a:rPr>
              <a:t>Notebook-Based Learning with Jupyter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31520" y="3703320"/>
            <a:ext cx="9600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700" spc="-1" strike="noStrike">
                <a:solidFill>
                  <a:srgbClr val="cfe4e2"/>
                </a:solidFill>
                <a:latin typeface="Calibri"/>
                <a:ea typeface="Calibri"/>
              </a:rPr>
              <a:t>A learner-facing JupyterLab dashboard for reflective programming education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731520" y="4434840"/>
            <a:ext cx="2011680" cy="360"/>
          </a:xfrm>
          <a:prstGeom prst="line">
            <a:avLst/>
          </a:prstGeom>
          <a:ln w="254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731520" y="466344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4eeed"/>
                </a:solidFill>
                <a:latin typeface="Calibri"/>
                <a:ea typeface="Calibri"/>
              </a:rPr>
              <a:t>Arturo Olivares Martos   ·   Lisa Pawlowski   ·   Mohamed Abdelmagied   ·   Kaimao Sheng   ·   Irene-Angelica Chounta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731520" y="50749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fc2bf"/>
                </a:solidFill>
                <a:latin typeface="Calibri"/>
                <a:ea typeface="Calibri"/>
              </a:rPr>
              <a:t>Universidad de Granada  ·  Universität Duisburg-Essen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/>
          <p:nvPr/>
        </p:nvSpPr>
        <p:spPr>
          <a:xfrm>
            <a:off x="548640" y="38412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97" strike="noStrike">
                <a:solidFill>
                  <a:srgbClr val="028090"/>
                </a:solidFill>
                <a:latin typeface="Calibri"/>
                <a:ea typeface="Calibri"/>
              </a:rPr>
              <a:t>MOTIVATION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548640" y="658440"/>
            <a:ext cx="110635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b2540"/>
                </a:solidFill>
                <a:latin typeface="Cambria"/>
                <a:ea typeface="Cambria"/>
              </a:rPr>
              <a:t>The programming process is invisible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2"/>
          <p:cNvSpPr/>
          <p:nvPr/>
        </p:nvSpPr>
        <p:spPr>
          <a:xfrm>
            <a:off x="548640" y="1508760"/>
            <a:ext cx="1088064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6302e"/>
                </a:solidFill>
                <a:latin typeface="Calibri"/>
                <a:ea typeface="Calibri"/>
              </a:rPr>
              <a:t>Computational notebooks are central to modern data science education. Learners repeatedly test, revise, and debug — but that process leaves no trace in a final submission.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548640" y="2606040"/>
            <a:ext cx="3501360" cy="278820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101520" dir="5400000" dist="38160" kx="0" ky="0" rotWithShape="0" sx="100000" sy="100000">
              <a:srgbClr val="1e3a38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4"/>
          <p:cNvSpPr/>
          <p:nvPr/>
        </p:nvSpPr>
        <p:spPr>
          <a:xfrm>
            <a:off x="804600" y="2862000"/>
            <a:ext cx="502200" cy="502200"/>
          </a:xfrm>
          <a:prstGeom prst="ellipse">
            <a:avLst/>
          </a:prstGeom>
          <a:solidFill>
            <a:srgbClr val="028090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804600" y="28620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28090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6"/>
          <p:cNvSpPr/>
          <p:nvPr/>
        </p:nvSpPr>
        <p:spPr>
          <a:xfrm>
            <a:off x="822960" y="3520440"/>
            <a:ext cx="2952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2540"/>
                </a:solidFill>
                <a:latin typeface="Cambria"/>
                <a:ea typeface="Cambria"/>
              </a:rPr>
              <a:t>Instructors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7"/>
          <p:cNvSpPr/>
          <p:nvPr/>
        </p:nvSpPr>
        <p:spPr>
          <a:xfrm>
            <a:off x="822960" y="3904560"/>
            <a:ext cx="2952720" cy="13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701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e7c79"/>
                </a:solidFill>
                <a:latin typeface="Calibri"/>
                <a:ea typeface="Calibri"/>
              </a:rPr>
              <a:t>Lack visibility into how students actually work through a task — only the final notebook is visible.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8"/>
          <p:cNvSpPr/>
          <p:nvPr/>
        </p:nvSpPr>
        <p:spPr>
          <a:xfrm>
            <a:off x="4325040" y="2606040"/>
            <a:ext cx="3501360" cy="278820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101520" dir="5400000" dist="38160" kx="0" ky="0" rotWithShape="0" sx="100000" sy="100000">
              <a:srgbClr val="1e3a38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9"/>
          <p:cNvSpPr/>
          <p:nvPr/>
        </p:nvSpPr>
        <p:spPr>
          <a:xfrm>
            <a:off x="4581000" y="2862000"/>
            <a:ext cx="502200" cy="502200"/>
          </a:xfrm>
          <a:prstGeom prst="ellipse">
            <a:avLst/>
          </a:prstGeom>
          <a:solidFill>
            <a:srgbClr val="028090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0"/>
          <p:cNvSpPr/>
          <p:nvPr/>
        </p:nvSpPr>
        <p:spPr>
          <a:xfrm>
            <a:off x="4581000" y="28620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28090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11"/>
          <p:cNvSpPr/>
          <p:nvPr/>
        </p:nvSpPr>
        <p:spPr>
          <a:xfrm>
            <a:off x="4599360" y="3520440"/>
            <a:ext cx="2952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2540"/>
                </a:solidFill>
                <a:latin typeface="Cambria"/>
                <a:ea typeface="Cambria"/>
              </a:rPr>
              <a:t>Learners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12"/>
          <p:cNvSpPr/>
          <p:nvPr/>
        </p:nvSpPr>
        <p:spPr>
          <a:xfrm>
            <a:off x="4599360" y="3904560"/>
            <a:ext cx="2952720" cy="13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701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e7c79"/>
                </a:solidFill>
                <a:latin typeface="Calibri"/>
                <a:ea typeface="Calibri"/>
              </a:rPr>
              <a:t>Rarely get the chance to reflect on their own workflow, error patterns, or problem-solving behavior.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13"/>
          <p:cNvSpPr/>
          <p:nvPr/>
        </p:nvSpPr>
        <p:spPr>
          <a:xfrm>
            <a:off x="8101440" y="2606040"/>
            <a:ext cx="3501360" cy="278820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101520" dir="5400000" dist="38160" kx="0" ky="0" rotWithShape="0" sx="100000" sy="100000">
              <a:srgbClr val="1e3a38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14"/>
          <p:cNvSpPr/>
          <p:nvPr/>
        </p:nvSpPr>
        <p:spPr>
          <a:xfrm>
            <a:off x="8357760" y="2862000"/>
            <a:ext cx="502200" cy="502200"/>
          </a:xfrm>
          <a:prstGeom prst="ellipse">
            <a:avLst/>
          </a:prstGeom>
          <a:solidFill>
            <a:srgbClr val="c1443c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15"/>
          <p:cNvSpPr/>
          <p:nvPr/>
        </p:nvSpPr>
        <p:spPr>
          <a:xfrm>
            <a:off x="8357760" y="28620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1443c"/>
                </a:solidFill>
                <a:latin typeface="Cambria"/>
                <a:ea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16"/>
          <p:cNvSpPr/>
          <p:nvPr/>
        </p:nvSpPr>
        <p:spPr>
          <a:xfrm>
            <a:off x="8375760" y="3520440"/>
            <a:ext cx="2952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2540"/>
                </a:solidFill>
                <a:latin typeface="Cambria"/>
                <a:ea typeface="Cambria"/>
              </a:rPr>
              <a:t>Existing dashboards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17"/>
          <p:cNvSpPr/>
          <p:nvPr/>
        </p:nvSpPr>
        <p:spPr>
          <a:xfrm>
            <a:off x="8375760" y="3904560"/>
            <a:ext cx="2952720" cy="13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701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e7c79"/>
                </a:solidFill>
                <a:latin typeface="Calibri"/>
                <a:ea typeface="Calibri"/>
              </a:rPr>
              <a:t>Mostly rely on coarse LMS-level data (grades, access logs) — not fine-grained, cell-level coding behavior.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18"/>
          <p:cNvSpPr/>
          <p:nvPr/>
        </p:nvSpPr>
        <p:spPr>
          <a:xfrm>
            <a:off x="548640" y="5623560"/>
            <a:ext cx="10880640" cy="712440"/>
          </a:xfrm>
          <a:prstGeom prst="roundRect">
            <a:avLst>
              <a:gd name="adj" fmla="val 12821"/>
            </a:avLst>
          </a:prstGeom>
          <a:solidFill>
            <a:srgbClr val="0b2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19"/>
          <p:cNvSpPr/>
          <p:nvPr/>
        </p:nvSpPr>
        <p:spPr>
          <a:xfrm>
            <a:off x="822960" y="5623560"/>
            <a:ext cx="103320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2c39a"/>
                </a:solidFill>
                <a:latin typeface="Calibri"/>
                <a:ea typeface="Calibri"/>
              </a:rPr>
              <a:t>Research question:  </a:t>
            </a: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Is the dashboard perceived as useful, easy to integrate, and usable — without imposing excessive cognitive workload?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20"/>
          <p:cNvSpPr/>
          <p:nvPr/>
        </p:nvSpPr>
        <p:spPr>
          <a:xfrm>
            <a:off x="11567160" y="649224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548640" y="38412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97" strike="noStrike">
                <a:solidFill>
                  <a:srgbClr val="028090"/>
                </a:solidFill>
                <a:latin typeface="Calibri"/>
                <a:ea typeface="Calibri"/>
              </a:rPr>
              <a:t>APPROACH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548640" y="658440"/>
            <a:ext cx="110635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b2540"/>
                </a:solidFill>
                <a:latin typeface="Cambria"/>
                <a:ea typeface="Cambria"/>
              </a:rPr>
              <a:t>A telemetry pipeline built into JupyterLab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548640" y="141732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6302e"/>
                </a:solidFill>
                <a:latin typeface="Calibri"/>
                <a:ea typeface="Calibri"/>
              </a:rPr>
              <a:t>The extension captures notebook interactions live through the JupyterLab API, persists them relationally, and renders reflective visualizations back to the student.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4"/>
          <p:cNvSpPr/>
          <p:nvPr/>
        </p:nvSpPr>
        <p:spPr>
          <a:xfrm>
            <a:off x="548640" y="5831640"/>
            <a:ext cx="10880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28090"/>
                </a:solidFill>
                <a:latin typeface="Calibri"/>
                <a:ea typeface="Calibri"/>
              </a:rPr>
              <a:t>Non-AI, learner-facing reflection interface — embedded directly in the coding environment, not a separate LMS view.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5"/>
          <p:cNvSpPr/>
          <p:nvPr/>
        </p:nvSpPr>
        <p:spPr>
          <a:xfrm>
            <a:off x="11567160" y="649224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770400" y="2322000"/>
            <a:ext cx="10904760" cy="3430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34"/>
          <p:cNvSpPr/>
          <p:nvPr/>
        </p:nvSpPr>
        <p:spPr>
          <a:xfrm>
            <a:off x="548640" y="38412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97" strike="noStrike">
                <a:solidFill>
                  <a:srgbClr val="028090"/>
                </a:solidFill>
                <a:latin typeface="Calibri"/>
                <a:ea typeface="Calibri"/>
              </a:rPr>
              <a:t>APPROACH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35"/>
          <p:cNvSpPr/>
          <p:nvPr/>
        </p:nvSpPr>
        <p:spPr>
          <a:xfrm>
            <a:off x="548640" y="658440"/>
            <a:ext cx="110635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b2540"/>
                </a:solidFill>
                <a:latin typeface="Cambria"/>
                <a:ea typeface="Cambria"/>
              </a:rPr>
              <a:t>The dashboard, live inside JupyterLab (1/2)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36"/>
          <p:cNvSpPr/>
          <p:nvPr/>
        </p:nvSpPr>
        <p:spPr>
          <a:xfrm>
            <a:off x="548640" y="1463040"/>
            <a:ext cx="10880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8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6302e"/>
                </a:solidFill>
                <a:latin typeface="Calibri"/>
                <a:ea typeface="Calibri"/>
              </a:rPr>
              <a:t>Nine panels, each with its own Help button — accessible from the JupyterLab command palette while students work.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26"/>
          <p:cNvSpPr/>
          <p:nvPr/>
        </p:nvSpPr>
        <p:spPr>
          <a:xfrm>
            <a:off x="548640" y="2084760"/>
            <a:ext cx="3513600" cy="159948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Image 5" descr="/home/claude/pptx_work/user_info.png"/>
          <p:cNvPicPr/>
          <p:nvPr/>
        </p:nvPicPr>
        <p:blipFill>
          <a:blip r:embed="rId1"/>
          <a:stretch/>
        </p:blipFill>
        <p:spPr>
          <a:xfrm>
            <a:off x="685800" y="2504880"/>
            <a:ext cx="3239280" cy="759600"/>
          </a:xfrm>
          <a:prstGeom prst="rect">
            <a:avLst/>
          </a:prstGeom>
          <a:ln w="0">
            <a:noFill/>
          </a:ln>
        </p:spPr>
      </p:pic>
      <p:sp>
        <p:nvSpPr>
          <p:cNvPr id="48" name="Text 37"/>
          <p:cNvSpPr/>
          <p:nvPr/>
        </p:nvSpPr>
        <p:spPr>
          <a:xfrm>
            <a:off x="548640" y="3721680"/>
            <a:ext cx="3513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b2540"/>
                </a:solidFill>
                <a:latin typeface="Cambria"/>
                <a:ea typeface="Cambria"/>
              </a:rPr>
              <a:t>User information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38"/>
          <p:cNvSpPr/>
          <p:nvPr/>
        </p:nvSpPr>
        <p:spPr>
          <a:xfrm>
            <a:off x="548640" y="3922920"/>
            <a:ext cx="3513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5e7c79"/>
                </a:solidFill>
                <a:latin typeface="Calibri"/>
                <a:ea typeface="Calibri"/>
              </a:rPr>
              <a:t>Anonymous ID and role (student / teacher).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4337280" y="2084760"/>
            <a:ext cx="3513600" cy="159948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" name="Image 12" descr="/home/claude/pptx_work/current_progress.png"/>
          <p:cNvPicPr/>
          <p:nvPr/>
        </p:nvPicPr>
        <p:blipFill>
          <a:blip r:embed="rId2"/>
          <a:stretch/>
        </p:blipFill>
        <p:spPr>
          <a:xfrm>
            <a:off x="4474440" y="2467440"/>
            <a:ext cx="3239280" cy="834120"/>
          </a:xfrm>
          <a:prstGeom prst="rect">
            <a:avLst/>
          </a:prstGeom>
          <a:ln w="0">
            <a:noFill/>
          </a:ln>
        </p:spPr>
      </p:pic>
      <p:sp>
        <p:nvSpPr>
          <p:cNvPr id="52" name="Text 39"/>
          <p:cNvSpPr/>
          <p:nvPr/>
        </p:nvSpPr>
        <p:spPr>
          <a:xfrm>
            <a:off x="4337280" y="3721680"/>
            <a:ext cx="3513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b2540"/>
                </a:solidFill>
                <a:latin typeface="Cambria"/>
                <a:ea typeface="Cambria"/>
              </a:rPr>
              <a:t>Current progress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40"/>
          <p:cNvSpPr/>
          <p:nvPr/>
        </p:nvSpPr>
        <p:spPr>
          <a:xfrm>
            <a:off x="4337280" y="3922920"/>
            <a:ext cx="3513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5e7c79"/>
                </a:solidFill>
                <a:latin typeface="Calibri"/>
                <a:ea typeface="Calibri"/>
              </a:rPr>
              <a:t>% of code cells executed without errors.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31"/>
          <p:cNvSpPr/>
          <p:nvPr/>
        </p:nvSpPr>
        <p:spPr>
          <a:xfrm>
            <a:off x="8125920" y="2084760"/>
            <a:ext cx="3513600" cy="159948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Image 13" descr="/home/claude/pptx_work/success_error_attempt_rate.png"/>
          <p:cNvPicPr/>
          <p:nvPr/>
        </p:nvPicPr>
        <p:blipFill>
          <a:blip r:embed="rId3"/>
          <a:stretch/>
        </p:blipFill>
        <p:spPr>
          <a:xfrm>
            <a:off x="8263080" y="2467440"/>
            <a:ext cx="3239280" cy="834120"/>
          </a:xfrm>
          <a:prstGeom prst="rect">
            <a:avLst/>
          </a:prstGeom>
          <a:ln w="0">
            <a:noFill/>
          </a:ln>
        </p:spPr>
      </p:pic>
      <p:sp>
        <p:nvSpPr>
          <p:cNvPr id="56" name="Text 41"/>
          <p:cNvSpPr/>
          <p:nvPr/>
        </p:nvSpPr>
        <p:spPr>
          <a:xfrm>
            <a:off x="8125920" y="3721680"/>
            <a:ext cx="3513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b2540"/>
                </a:solidFill>
                <a:latin typeface="Cambria"/>
                <a:ea typeface="Cambria"/>
              </a:rPr>
              <a:t>Success / Error / Attempt rate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42"/>
          <p:cNvSpPr/>
          <p:nvPr/>
        </p:nvSpPr>
        <p:spPr>
          <a:xfrm>
            <a:off x="8125920" y="3922920"/>
            <a:ext cx="3513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5e7c79"/>
                </a:solidFill>
                <a:latin typeface="Calibri"/>
                <a:ea typeface="Calibri"/>
              </a:rPr>
              <a:t>Classifies every cell by its final outcome.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2"/>
          <p:cNvSpPr/>
          <p:nvPr/>
        </p:nvSpPr>
        <p:spPr>
          <a:xfrm>
            <a:off x="548640" y="4370760"/>
            <a:ext cx="3513600" cy="159948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" name="Image 14" descr="/home/claude/pptx_work/error_rate.png"/>
          <p:cNvPicPr/>
          <p:nvPr/>
        </p:nvPicPr>
        <p:blipFill>
          <a:blip r:embed="rId4"/>
          <a:stretch/>
        </p:blipFill>
        <p:spPr>
          <a:xfrm>
            <a:off x="685800" y="4597920"/>
            <a:ext cx="3239280" cy="1145160"/>
          </a:xfrm>
          <a:prstGeom prst="rect">
            <a:avLst/>
          </a:prstGeom>
          <a:ln w="0">
            <a:noFill/>
          </a:ln>
        </p:spPr>
      </p:pic>
      <p:sp>
        <p:nvSpPr>
          <p:cNvPr id="60" name="Text 43"/>
          <p:cNvSpPr/>
          <p:nvPr/>
        </p:nvSpPr>
        <p:spPr>
          <a:xfrm>
            <a:off x="548640" y="6007680"/>
            <a:ext cx="3513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b2540"/>
                </a:solidFill>
                <a:latin typeface="Cambria"/>
                <a:ea typeface="Cambria"/>
              </a:rPr>
              <a:t>Error rate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44"/>
          <p:cNvSpPr/>
          <p:nvPr/>
        </p:nvSpPr>
        <p:spPr>
          <a:xfrm>
            <a:off x="548640" y="6208920"/>
            <a:ext cx="3513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5e7c79"/>
                </a:solidFill>
                <a:latin typeface="Calibri"/>
                <a:ea typeface="Calibri"/>
              </a:rPr>
              <a:t>Failed / total executions, color-graded 0–100%.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33"/>
          <p:cNvSpPr/>
          <p:nvPr/>
        </p:nvSpPr>
        <p:spPr>
          <a:xfrm>
            <a:off x="4337280" y="4370760"/>
            <a:ext cx="3513600" cy="159948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Image 15" descr="/home/claude/pptx_work/top_error_cells.png"/>
          <p:cNvPicPr/>
          <p:nvPr/>
        </p:nvPicPr>
        <p:blipFill>
          <a:blip r:embed="rId5"/>
          <a:stretch/>
        </p:blipFill>
        <p:spPr>
          <a:xfrm>
            <a:off x="5269320" y="4507920"/>
            <a:ext cx="1649160" cy="1325160"/>
          </a:xfrm>
          <a:prstGeom prst="rect">
            <a:avLst/>
          </a:prstGeom>
          <a:ln w="0">
            <a:noFill/>
          </a:ln>
        </p:spPr>
      </p:pic>
      <p:sp>
        <p:nvSpPr>
          <p:cNvPr id="64" name="Text 45"/>
          <p:cNvSpPr/>
          <p:nvPr/>
        </p:nvSpPr>
        <p:spPr>
          <a:xfrm>
            <a:off x="4337280" y="6007680"/>
            <a:ext cx="3513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b2540"/>
                </a:solidFill>
                <a:latin typeface="Cambria"/>
                <a:ea typeface="Cambria"/>
              </a:rPr>
              <a:t>Top error cells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46"/>
          <p:cNvSpPr/>
          <p:nvPr/>
        </p:nvSpPr>
        <p:spPr>
          <a:xfrm>
            <a:off x="4337280" y="6208920"/>
            <a:ext cx="3513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5e7c79"/>
                </a:solidFill>
                <a:latin typeface="Calibri"/>
                <a:ea typeface="Calibri"/>
              </a:rPr>
              <a:t>Cells with the most failed executions.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34"/>
          <p:cNvSpPr/>
          <p:nvPr/>
        </p:nvSpPr>
        <p:spPr>
          <a:xfrm>
            <a:off x="8125920" y="4370760"/>
            <a:ext cx="3513600" cy="159948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" name="Image 16" descr="/home/claude/pptx_work/top_attempt_cells.png"/>
          <p:cNvPicPr/>
          <p:nvPr/>
        </p:nvPicPr>
        <p:blipFill>
          <a:blip r:embed="rId6"/>
          <a:stretch/>
        </p:blipFill>
        <p:spPr>
          <a:xfrm>
            <a:off x="9058320" y="4507920"/>
            <a:ext cx="1649160" cy="1325160"/>
          </a:xfrm>
          <a:prstGeom prst="rect">
            <a:avLst/>
          </a:prstGeom>
          <a:ln w="0">
            <a:noFill/>
          </a:ln>
        </p:spPr>
      </p:pic>
      <p:sp>
        <p:nvSpPr>
          <p:cNvPr id="68" name="Text 47"/>
          <p:cNvSpPr/>
          <p:nvPr/>
        </p:nvSpPr>
        <p:spPr>
          <a:xfrm>
            <a:off x="8125920" y="6007680"/>
            <a:ext cx="35136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b2540"/>
                </a:solidFill>
                <a:latin typeface="Cambria"/>
                <a:ea typeface="Cambria"/>
              </a:rPr>
              <a:t>Top attempt cells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48"/>
          <p:cNvSpPr/>
          <p:nvPr/>
        </p:nvSpPr>
        <p:spPr>
          <a:xfrm>
            <a:off x="8125920" y="6208920"/>
            <a:ext cx="3513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5e7c79"/>
                </a:solidFill>
                <a:latin typeface="Calibri"/>
                <a:ea typeface="Calibri"/>
              </a:rPr>
              <a:t>Cells with the highest number of executions.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49"/>
          <p:cNvSpPr/>
          <p:nvPr/>
        </p:nvSpPr>
        <p:spPr>
          <a:xfrm>
            <a:off x="11567160" y="649224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28"/>
          <p:cNvSpPr/>
          <p:nvPr/>
        </p:nvSpPr>
        <p:spPr>
          <a:xfrm>
            <a:off x="548640" y="38412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97" strike="noStrike">
                <a:solidFill>
                  <a:srgbClr val="028090"/>
                </a:solidFill>
                <a:latin typeface="Calibri"/>
                <a:ea typeface="Calibri"/>
              </a:rPr>
              <a:t>APPROACH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29"/>
          <p:cNvSpPr/>
          <p:nvPr/>
        </p:nvSpPr>
        <p:spPr>
          <a:xfrm>
            <a:off x="548640" y="658440"/>
            <a:ext cx="110635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b2540"/>
                </a:solidFill>
                <a:latin typeface="Cambria"/>
                <a:ea typeface="Cambria"/>
              </a:rPr>
              <a:t>The dashboard, live inside JupyterLab (2/2)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35"/>
          <p:cNvSpPr/>
          <p:nvPr/>
        </p:nvSpPr>
        <p:spPr>
          <a:xfrm>
            <a:off x="548640" y="1965960"/>
            <a:ext cx="3483000" cy="3428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88920" dir="5400000" dist="25560" kx="0" ky="0" rotWithShape="0" sx="100000" sy="100000">
              <a:srgbClr val="1e3a3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" name="Image 6" descr="/home/claude/pptx_work/top_time_consuming_cells.png"/>
          <p:cNvPicPr/>
          <p:nvPr/>
        </p:nvPicPr>
        <p:blipFill>
          <a:blip r:embed="rId1"/>
          <a:stretch/>
        </p:blipFill>
        <p:spPr>
          <a:xfrm>
            <a:off x="777240" y="2464560"/>
            <a:ext cx="3025800" cy="2431440"/>
          </a:xfrm>
          <a:prstGeom prst="rect">
            <a:avLst/>
          </a:prstGeom>
          <a:ln w="0">
            <a:noFill/>
          </a:ln>
        </p:spPr>
      </p:pic>
      <p:sp>
        <p:nvSpPr>
          <p:cNvPr id="75" name="Text 30"/>
          <p:cNvSpPr/>
          <p:nvPr/>
        </p:nvSpPr>
        <p:spPr>
          <a:xfrm>
            <a:off x="548640" y="5504760"/>
            <a:ext cx="3483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540"/>
                </a:solidFill>
                <a:latin typeface="Cambria"/>
                <a:ea typeface="Cambria"/>
              </a:rPr>
              <a:t>Top time-consuming cells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50"/>
          <p:cNvSpPr/>
          <p:nvPr/>
        </p:nvSpPr>
        <p:spPr>
          <a:xfrm>
            <a:off x="548640" y="5779080"/>
            <a:ext cx="34830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Cells ranked by total active focus time during the session.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36"/>
          <p:cNvSpPr/>
          <p:nvPr/>
        </p:nvSpPr>
        <p:spPr>
          <a:xfrm>
            <a:off x="4352400" y="1965960"/>
            <a:ext cx="3483000" cy="3428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88920" dir="5400000" dist="25560" kx="0" ky="0" rotWithShape="0" sx="100000" sy="100000">
              <a:srgbClr val="1e3a3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" name="Image 7" descr="/home/claude/pptx_work/top_common_error_types.png"/>
          <p:cNvPicPr/>
          <p:nvPr/>
        </p:nvPicPr>
        <p:blipFill>
          <a:blip r:embed="rId2"/>
          <a:stretch/>
        </p:blipFill>
        <p:spPr>
          <a:xfrm>
            <a:off x="4581000" y="2939400"/>
            <a:ext cx="3025800" cy="1481760"/>
          </a:xfrm>
          <a:prstGeom prst="rect">
            <a:avLst/>
          </a:prstGeom>
          <a:ln w="0">
            <a:noFill/>
          </a:ln>
        </p:spPr>
      </p:pic>
      <p:sp>
        <p:nvSpPr>
          <p:cNvPr id="79" name="Text 51"/>
          <p:cNvSpPr/>
          <p:nvPr/>
        </p:nvSpPr>
        <p:spPr>
          <a:xfrm>
            <a:off x="4352400" y="5504760"/>
            <a:ext cx="3483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540"/>
                </a:solidFill>
                <a:latin typeface="Cambria"/>
                <a:ea typeface="Cambria"/>
              </a:rPr>
              <a:t>Top common error types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52"/>
          <p:cNvSpPr/>
          <p:nvPr/>
        </p:nvSpPr>
        <p:spPr>
          <a:xfrm>
            <a:off x="4352400" y="5779080"/>
            <a:ext cx="34830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Tally of specific Python exceptions (IndexError, SyntaxError…).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37"/>
          <p:cNvSpPr/>
          <p:nvPr/>
        </p:nvSpPr>
        <p:spPr>
          <a:xfrm>
            <a:off x="8156520" y="1965960"/>
            <a:ext cx="3483000" cy="3428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88920" dir="5400000" dist="25560" kx="0" ky="0" rotWithShape="0" sx="100000" sy="100000">
              <a:srgbClr val="1e3a3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Image 8" descr="/home/claude/pptx_work/execution_timeline.png"/>
          <p:cNvPicPr/>
          <p:nvPr/>
        </p:nvPicPr>
        <p:blipFill>
          <a:blip r:embed="rId3"/>
          <a:stretch/>
        </p:blipFill>
        <p:spPr>
          <a:xfrm>
            <a:off x="8385120" y="3232800"/>
            <a:ext cx="3025800" cy="894960"/>
          </a:xfrm>
          <a:prstGeom prst="rect">
            <a:avLst/>
          </a:prstGeom>
          <a:ln w="0">
            <a:noFill/>
          </a:ln>
        </p:spPr>
      </p:pic>
      <p:sp>
        <p:nvSpPr>
          <p:cNvPr id="83" name="Text 53"/>
          <p:cNvSpPr/>
          <p:nvPr/>
        </p:nvSpPr>
        <p:spPr>
          <a:xfrm>
            <a:off x="8156520" y="5504760"/>
            <a:ext cx="3483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540"/>
                </a:solidFill>
                <a:latin typeface="Cambria"/>
                <a:ea typeface="Cambria"/>
              </a:rPr>
              <a:t>Execution timeline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54"/>
          <p:cNvSpPr/>
          <p:nvPr/>
        </p:nvSpPr>
        <p:spPr>
          <a:xfrm>
            <a:off x="8156520" y="5779080"/>
            <a:ext cx="34830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Chronological, color-coded dot plot of the whole session (green = success, red = error).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55"/>
          <p:cNvSpPr/>
          <p:nvPr/>
        </p:nvSpPr>
        <p:spPr>
          <a:xfrm>
            <a:off x="548640" y="6355080"/>
            <a:ext cx="11063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28090"/>
                </a:solidFill>
                <a:latin typeface="Calibri"/>
                <a:ea typeface="Calibri"/>
              </a:rPr>
              <a:t>Metrics are reflection cues, not diagnostic scores — the Help button explains each one and suggests possible next actions.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56"/>
          <p:cNvSpPr/>
          <p:nvPr/>
        </p:nvSpPr>
        <p:spPr>
          <a:xfrm>
            <a:off x="11567160" y="649224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548640" y="38412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97" strike="noStrike">
                <a:solidFill>
                  <a:srgbClr val="028090"/>
                </a:solidFill>
                <a:latin typeface="Calibri"/>
                <a:ea typeface="Calibri"/>
              </a:rPr>
              <a:t>EVALUATION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548640" y="658440"/>
            <a:ext cx="110635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b2540"/>
                </a:solidFill>
                <a:latin typeface="Cambria"/>
                <a:ea typeface="Cambria"/>
              </a:rPr>
              <a:t>An exploratory, learner-centered pilot study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548640" y="1828800"/>
            <a:ext cx="5119920" cy="1188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731520" y="1828800"/>
            <a:ext cx="1736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28090"/>
                </a:solidFill>
                <a:latin typeface="Cambria"/>
                <a:ea typeface="Cambria"/>
              </a:rPr>
              <a:t>22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2560320" y="1828800"/>
            <a:ext cx="2879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6302e"/>
                </a:solidFill>
                <a:latin typeface="Calibri"/>
                <a:ea typeface="Calibri"/>
              </a:rPr>
              <a:t>students,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6302e"/>
                </a:solidFill>
                <a:latin typeface="Calibri"/>
                <a:ea typeface="Calibri"/>
              </a:rPr>
              <a:t>varying prior experience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548640" y="3246120"/>
            <a:ext cx="5119920" cy="1188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731520" y="3246120"/>
            <a:ext cx="1736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28090"/>
                </a:solidFill>
                <a:latin typeface="Cambria"/>
                <a:ea typeface="Cambria"/>
              </a:rPr>
              <a:t>~17 min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7"/>
          <p:cNvSpPr/>
          <p:nvPr/>
        </p:nvSpPr>
        <p:spPr>
          <a:xfrm>
            <a:off x="2560320" y="3246120"/>
            <a:ext cx="2879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6302e"/>
                </a:solidFill>
                <a:latin typeface="Calibri"/>
                <a:ea typeface="Calibri"/>
              </a:rPr>
              <a:t>average time spent using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6302e"/>
                </a:solidFill>
                <a:latin typeface="Calibri"/>
                <a:ea typeface="Calibri"/>
              </a:rPr>
              <a:t>the dashboard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8"/>
          <p:cNvSpPr/>
          <p:nvPr/>
        </p:nvSpPr>
        <p:spPr>
          <a:xfrm>
            <a:off x="548640" y="4663440"/>
            <a:ext cx="5119920" cy="1188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9"/>
          <p:cNvSpPr/>
          <p:nvPr/>
        </p:nvSpPr>
        <p:spPr>
          <a:xfrm>
            <a:off x="731520" y="4663440"/>
            <a:ext cx="1736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28090"/>
                </a:solidFill>
                <a:latin typeface="Cambria"/>
                <a:ea typeface="Cambria"/>
              </a:rPr>
              <a:t>3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0"/>
          <p:cNvSpPr/>
          <p:nvPr/>
        </p:nvSpPr>
        <p:spPr>
          <a:xfrm>
            <a:off x="2560320" y="4663440"/>
            <a:ext cx="2879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6302e"/>
                </a:solidFill>
                <a:latin typeface="Calibri"/>
                <a:ea typeface="Calibri"/>
              </a:rPr>
              <a:t>standardized instruments: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6302e"/>
                </a:solidFill>
                <a:latin typeface="Calibri"/>
                <a:ea typeface="Calibri"/>
              </a:rPr>
              <a:t>SUS, TAM, NASA-TLX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1"/>
          <p:cNvSpPr/>
          <p:nvPr/>
        </p:nvSpPr>
        <p:spPr>
          <a:xfrm>
            <a:off x="6126480" y="1783080"/>
            <a:ext cx="5485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2540"/>
                </a:solidFill>
                <a:latin typeface="Cambria"/>
                <a:ea typeface="Cambria"/>
              </a:rPr>
              <a:t>Procedure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2"/>
          <p:cNvSpPr/>
          <p:nvPr/>
        </p:nvSpPr>
        <p:spPr>
          <a:xfrm>
            <a:off x="6126480" y="2240280"/>
            <a:ext cx="310320" cy="310320"/>
          </a:xfrm>
          <a:prstGeom prst="ellipse">
            <a:avLst/>
          </a:prstGeom>
          <a:solidFill>
            <a:srgbClr val="0b2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3"/>
          <p:cNvSpPr/>
          <p:nvPr/>
        </p:nvSpPr>
        <p:spPr>
          <a:xfrm>
            <a:off x="6126480" y="22402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14"/>
          <p:cNvSpPr/>
          <p:nvPr/>
        </p:nvSpPr>
        <p:spPr>
          <a:xfrm>
            <a:off x="6583680" y="2185560"/>
            <a:ext cx="51199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6302e"/>
                </a:solidFill>
                <a:latin typeface="Calibri"/>
                <a:ea typeface="Calibri"/>
              </a:rPr>
              <a:t>Informed consent + background questionnaire (Jupyter / Python experience)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15"/>
          <p:cNvSpPr/>
          <p:nvPr/>
        </p:nvSpPr>
        <p:spPr>
          <a:xfrm>
            <a:off x="6126480" y="3173040"/>
            <a:ext cx="310320" cy="310320"/>
          </a:xfrm>
          <a:prstGeom prst="ellipse">
            <a:avLst/>
          </a:prstGeom>
          <a:solidFill>
            <a:srgbClr val="0b2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6"/>
          <p:cNvSpPr/>
          <p:nvPr/>
        </p:nvSpPr>
        <p:spPr>
          <a:xfrm>
            <a:off x="6126480" y="31730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17"/>
          <p:cNvSpPr/>
          <p:nvPr/>
        </p:nvSpPr>
        <p:spPr>
          <a:xfrm>
            <a:off x="6583680" y="3117960"/>
            <a:ext cx="51199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6302e"/>
                </a:solidFill>
                <a:latin typeface="Calibri"/>
                <a:ea typeface="Calibri"/>
              </a:rPr>
              <a:t>Solve Python exercises in JupyterLab while the dashboard runs live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18"/>
          <p:cNvSpPr/>
          <p:nvPr/>
        </p:nvSpPr>
        <p:spPr>
          <a:xfrm>
            <a:off x="6126480" y="4105800"/>
            <a:ext cx="310320" cy="310320"/>
          </a:xfrm>
          <a:prstGeom prst="ellipse">
            <a:avLst/>
          </a:prstGeom>
          <a:solidFill>
            <a:srgbClr val="0b2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9"/>
          <p:cNvSpPr/>
          <p:nvPr/>
        </p:nvSpPr>
        <p:spPr>
          <a:xfrm>
            <a:off x="6126480" y="410580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0"/>
          <p:cNvSpPr/>
          <p:nvPr/>
        </p:nvSpPr>
        <p:spPr>
          <a:xfrm>
            <a:off x="6583680" y="4050720"/>
            <a:ext cx="51199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6302e"/>
                </a:solidFill>
                <a:latin typeface="Calibri"/>
                <a:ea typeface="Calibri"/>
              </a:rPr>
              <a:t>Post-use questionnaires: SUS (usability), TAM (usefulness &amp; ease of use), NASA-TLX (workload)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21"/>
          <p:cNvSpPr/>
          <p:nvPr/>
        </p:nvSpPr>
        <p:spPr>
          <a:xfrm>
            <a:off x="6126480" y="5038200"/>
            <a:ext cx="310320" cy="310320"/>
          </a:xfrm>
          <a:prstGeom prst="ellipse">
            <a:avLst/>
          </a:prstGeom>
          <a:solidFill>
            <a:srgbClr val="0b2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22"/>
          <p:cNvSpPr/>
          <p:nvPr/>
        </p:nvSpPr>
        <p:spPr>
          <a:xfrm>
            <a:off x="6126480" y="503820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23"/>
          <p:cNvSpPr/>
          <p:nvPr/>
        </p:nvSpPr>
        <p:spPr>
          <a:xfrm>
            <a:off x="6583680" y="4983480"/>
            <a:ext cx="51199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6302e"/>
                </a:solidFill>
                <a:latin typeface="Calibri"/>
                <a:ea typeface="Calibri"/>
              </a:rPr>
              <a:t>Descriptive statistics + exploratory Spearman correlations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24"/>
          <p:cNvSpPr/>
          <p:nvPr/>
        </p:nvSpPr>
        <p:spPr>
          <a:xfrm>
            <a:off x="548640" y="6263640"/>
            <a:ext cx="11063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e7c79"/>
                </a:solidFill>
                <a:latin typeface="Calibri"/>
                <a:ea typeface="Calibri"/>
              </a:rPr>
              <a:t>Ethics-approved study · Faculty of Computer Science, University of Duisburg-Essen (ID 2601CMPL2910)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25"/>
          <p:cNvSpPr/>
          <p:nvPr/>
        </p:nvSpPr>
        <p:spPr>
          <a:xfrm>
            <a:off x="11567160" y="649224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48640" y="38412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97" strike="noStrike">
                <a:solidFill>
                  <a:srgbClr val="02c39a"/>
                </a:solidFill>
                <a:latin typeface="Calibri"/>
                <a:ea typeface="Calibri"/>
              </a:rPr>
              <a:t>RESULTS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548640" y="658440"/>
            <a:ext cx="110635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mbria"/>
                <a:ea typeface="Cambria"/>
              </a:rPr>
              <a:t>Usable and low-workload — usefulness more moderate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548640" y="1691640"/>
            <a:ext cx="3501360" cy="1965240"/>
          </a:xfrm>
          <a:prstGeom prst="roundRect">
            <a:avLst>
              <a:gd name="adj" fmla="val 5581"/>
            </a:avLst>
          </a:prstGeom>
          <a:solidFill>
            <a:srgbClr val="10314d"/>
          </a:solidFill>
          <a:ln w="1905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777240" y="1856160"/>
            <a:ext cx="3044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028090"/>
                </a:solidFill>
                <a:latin typeface="Cambria"/>
                <a:ea typeface="Cambria"/>
              </a:rPr>
              <a:t>65.6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777240" y="2743200"/>
            <a:ext cx="3044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SUS Score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777240" y="3081600"/>
            <a:ext cx="3044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9cfcd"/>
                </a:solidFill>
                <a:latin typeface="Calibri"/>
                <a:ea typeface="Calibri"/>
              </a:rPr>
              <a:t>/ 100  ·  just below the 68 benchmark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Shape 6"/>
          <p:cNvSpPr/>
          <p:nvPr/>
        </p:nvSpPr>
        <p:spPr>
          <a:xfrm>
            <a:off x="4325040" y="1691640"/>
            <a:ext cx="3501360" cy="1965240"/>
          </a:xfrm>
          <a:prstGeom prst="roundRect">
            <a:avLst>
              <a:gd name="adj" fmla="val 5581"/>
            </a:avLst>
          </a:prstGeom>
          <a:solidFill>
            <a:srgbClr val="10314d"/>
          </a:solidFill>
          <a:ln w="1905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4553640" y="1856160"/>
            <a:ext cx="3044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00a896"/>
                </a:solidFill>
                <a:latin typeface="Cambria"/>
                <a:ea typeface="Cambria"/>
              </a:rPr>
              <a:t>5.36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4553640" y="2743200"/>
            <a:ext cx="3044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TAM Overall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4553640" y="3081600"/>
            <a:ext cx="3044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9cfcd"/>
                </a:solidFill>
                <a:latin typeface="Calibri"/>
                <a:ea typeface="Calibri"/>
              </a:rPr>
              <a:t>/ 7  ·  positive technology acceptance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Shape 10"/>
          <p:cNvSpPr/>
          <p:nvPr/>
        </p:nvSpPr>
        <p:spPr>
          <a:xfrm>
            <a:off x="8101440" y="1691640"/>
            <a:ext cx="3501360" cy="1965240"/>
          </a:xfrm>
          <a:prstGeom prst="roundRect">
            <a:avLst>
              <a:gd name="adj" fmla="val 5581"/>
            </a:avLst>
          </a:prstGeom>
          <a:solidFill>
            <a:srgbClr val="10314d"/>
          </a:solidFill>
          <a:ln w="1905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11"/>
          <p:cNvSpPr/>
          <p:nvPr/>
        </p:nvSpPr>
        <p:spPr>
          <a:xfrm>
            <a:off x="8330040" y="1856160"/>
            <a:ext cx="3044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02c39a"/>
                </a:solidFill>
                <a:latin typeface="Cambria"/>
                <a:ea typeface="Cambria"/>
              </a:rPr>
              <a:t>8.15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8330040" y="2743200"/>
            <a:ext cx="3044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NASA-TLX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13"/>
          <p:cNvSpPr/>
          <p:nvPr/>
        </p:nvSpPr>
        <p:spPr>
          <a:xfrm>
            <a:off x="8330040" y="3081600"/>
            <a:ext cx="3044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9cfcd"/>
                </a:solidFill>
                <a:latin typeface="Calibri"/>
                <a:ea typeface="Calibri"/>
              </a:rPr>
              <a:t>/ 20  ·  low-to-moderate workload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548640" y="397764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mbria"/>
                <a:ea typeface="Cambria"/>
              </a:rPr>
              <a:t>Perceived Ease of Use  vs.  Perceived Usefulness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15"/>
          <p:cNvSpPr/>
          <p:nvPr/>
        </p:nvSpPr>
        <p:spPr>
          <a:xfrm>
            <a:off x="548640" y="4480560"/>
            <a:ext cx="7308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PEOU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16"/>
          <p:cNvSpPr/>
          <p:nvPr/>
        </p:nvSpPr>
        <p:spPr>
          <a:xfrm>
            <a:off x="1325880" y="4535280"/>
            <a:ext cx="7863120" cy="300960"/>
          </a:xfrm>
          <a:prstGeom prst="roundRect">
            <a:avLst>
              <a:gd name="adj" fmla="val 15152"/>
            </a:avLst>
          </a:prstGeom>
          <a:solidFill>
            <a:srgbClr val="1b41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17"/>
          <p:cNvSpPr/>
          <p:nvPr/>
        </p:nvSpPr>
        <p:spPr>
          <a:xfrm>
            <a:off x="1325880" y="4535280"/>
            <a:ext cx="6492600" cy="300960"/>
          </a:xfrm>
          <a:prstGeom prst="roundRect">
            <a:avLst>
              <a:gd name="adj" fmla="val 15152"/>
            </a:avLst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18"/>
          <p:cNvSpPr/>
          <p:nvPr/>
        </p:nvSpPr>
        <p:spPr>
          <a:xfrm>
            <a:off x="7362000" y="4480560"/>
            <a:ext cx="547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b2540"/>
                </a:solidFill>
                <a:latin typeface="Calibri"/>
                <a:ea typeface="Calibri"/>
              </a:rPr>
              <a:t>5.78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19"/>
          <p:cNvSpPr/>
          <p:nvPr/>
        </p:nvSpPr>
        <p:spPr>
          <a:xfrm>
            <a:off x="548640" y="5047560"/>
            <a:ext cx="7308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hape 20"/>
          <p:cNvSpPr/>
          <p:nvPr/>
        </p:nvSpPr>
        <p:spPr>
          <a:xfrm>
            <a:off x="1325880" y="5102280"/>
            <a:ext cx="7863120" cy="300960"/>
          </a:xfrm>
          <a:prstGeom prst="roundRect">
            <a:avLst>
              <a:gd name="adj" fmla="val 15152"/>
            </a:avLst>
          </a:prstGeom>
          <a:solidFill>
            <a:srgbClr val="1b41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21"/>
          <p:cNvSpPr/>
          <p:nvPr/>
        </p:nvSpPr>
        <p:spPr>
          <a:xfrm>
            <a:off x="1325880" y="5102280"/>
            <a:ext cx="5537520" cy="300960"/>
          </a:xfrm>
          <a:prstGeom prst="roundRect">
            <a:avLst>
              <a:gd name="adj" fmla="val 15152"/>
            </a:avLst>
          </a:prstGeom>
          <a:solidFill>
            <a:srgbClr val="e0a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22"/>
          <p:cNvSpPr/>
          <p:nvPr/>
        </p:nvSpPr>
        <p:spPr>
          <a:xfrm>
            <a:off x="6406920" y="5047560"/>
            <a:ext cx="547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b2540"/>
                </a:solidFill>
                <a:latin typeface="Calibri"/>
                <a:ea typeface="Calibri"/>
              </a:rPr>
              <a:t>4.93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23"/>
          <p:cNvSpPr/>
          <p:nvPr/>
        </p:nvSpPr>
        <p:spPr>
          <a:xfrm>
            <a:off x="548640" y="5989320"/>
            <a:ext cx="110635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fe4e2"/>
                </a:solidFill>
                <a:latin typeface="Calibri"/>
                <a:ea typeface="Calibri"/>
              </a:rPr>
              <a:t>Students found it easy to operate; its immediate value for self-reflection was less evident — some wanted more actionable, error-specific guidance.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24"/>
          <p:cNvSpPr/>
          <p:nvPr/>
        </p:nvSpPr>
        <p:spPr>
          <a:xfrm>
            <a:off x="11567160" y="649224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7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548640" y="38412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97" strike="noStrike">
                <a:solidFill>
                  <a:srgbClr val="028090"/>
                </a:solidFill>
                <a:latin typeface="Calibri"/>
                <a:ea typeface="Calibri"/>
              </a:rPr>
              <a:t>CONTRIBUTION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548640" y="658440"/>
            <a:ext cx="110635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b2540"/>
                </a:solidFill>
                <a:latin typeface="Cambria"/>
                <a:ea typeface="Cambria"/>
              </a:rPr>
              <a:t>Visibility is only the first step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"/>
          <p:cNvSpPr/>
          <p:nvPr/>
        </p:nvSpPr>
        <p:spPr>
          <a:xfrm>
            <a:off x="548640" y="1691640"/>
            <a:ext cx="5394240" cy="15080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3"/>
          <p:cNvSpPr/>
          <p:nvPr/>
        </p:nvSpPr>
        <p:spPr>
          <a:xfrm>
            <a:off x="777240" y="1892880"/>
            <a:ext cx="456480" cy="45648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777240" y="189288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1417320" y="1856160"/>
            <a:ext cx="4342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b2540"/>
                </a:solidFill>
                <a:latin typeface="Cambria"/>
                <a:ea typeface="Cambria"/>
              </a:rPr>
              <a:t>A working system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1417320" y="2240280"/>
            <a:ext cx="43426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e7c79"/>
                </a:solidFill>
                <a:latin typeface="Calibri"/>
                <a:ea typeface="Calibri"/>
              </a:rPr>
              <a:t>A JupyterLab extension capturing cell-level execution, error, retry, and focus-time data directly — not coarse LMS logs.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7"/>
          <p:cNvSpPr/>
          <p:nvPr/>
        </p:nvSpPr>
        <p:spPr>
          <a:xfrm>
            <a:off x="548640" y="3383280"/>
            <a:ext cx="5394240" cy="15080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8"/>
          <p:cNvSpPr/>
          <p:nvPr/>
        </p:nvSpPr>
        <p:spPr>
          <a:xfrm>
            <a:off x="777240" y="3584520"/>
            <a:ext cx="456480" cy="45648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777240" y="358452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10"/>
          <p:cNvSpPr/>
          <p:nvPr/>
        </p:nvSpPr>
        <p:spPr>
          <a:xfrm>
            <a:off x="1417320" y="3547800"/>
            <a:ext cx="4342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b2540"/>
                </a:solidFill>
                <a:latin typeface="Cambria"/>
                <a:ea typeface="Cambria"/>
              </a:rPr>
              <a:t>Empirical baseline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11"/>
          <p:cNvSpPr/>
          <p:nvPr/>
        </p:nvSpPr>
        <p:spPr>
          <a:xfrm>
            <a:off x="1417320" y="3931920"/>
            <a:ext cx="43426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e7c79"/>
                </a:solidFill>
                <a:latin typeface="Calibri"/>
                <a:ea typeface="Calibri"/>
              </a:rPr>
              <a:t>First learner-centered usability, usefulness, ease-of-use, and workload evidence for a fine-grained notebook dashboard (N = 22).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12"/>
          <p:cNvSpPr/>
          <p:nvPr/>
        </p:nvSpPr>
        <p:spPr>
          <a:xfrm>
            <a:off x="6263640" y="1691640"/>
            <a:ext cx="5348520" cy="4708440"/>
          </a:xfrm>
          <a:prstGeom prst="roundRect">
            <a:avLst>
              <a:gd name="adj" fmla="val 2330"/>
            </a:avLst>
          </a:prstGeom>
          <a:solidFill>
            <a:srgbClr val="0b2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6583680" y="1965960"/>
            <a:ext cx="47541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2c39a"/>
                </a:solidFill>
                <a:latin typeface="Cambria"/>
                <a:ea typeface="Cambria"/>
              </a:rPr>
              <a:t>Implications &amp; next steps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14"/>
          <p:cNvSpPr/>
          <p:nvPr/>
        </p:nvSpPr>
        <p:spPr>
          <a:xfrm>
            <a:off x="6583680" y="2560320"/>
            <a:ext cx="118080" cy="1180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15"/>
          <p:cNvSpPr/>
          <p:nvPr/>
        </p:nvSpPr>
        <p:spPr>
          <a:xfrm>
            <a:off x="6858000" y="2404800"/>
            <a:ext cx="44798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4eeed"/>
                </a:solidFill>
                <a:latin typeface="Calibri"/>
                <a:ea typeface="Calibri"/>
              </a:rPr>
              <a:t>Visibility alone isn’t enough — learners need help interpreting patterns and turning them into concrete actions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16"/>
          <p:cNvSpPr/>
          <p:nvPr/>
        </p:nvSpPr>
        <p:spPr>
          <a:xfrm>
            <a:off x="6583680" y="3493080"/>
            <a:ext cx="118080" cy="1180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17"/>
          <p:cNvSpPr/>
          <p:nvPr/>
        </p:nvSpPr>
        <p:spPr>
          <a:xfrm>
            <a:off x="6858000" y="3337560"/>
            <a:ext cx="44798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4eeed"/>
                </a:solidFill>
                <a:latin typeface="Calibri"/>
                <a:ea typeface="Calibri"/>
              </a:rPr>
              <a:t>Strengthen the Help function with more actionable, error-specific guidance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18"/>
          <p:cNvSpPr/>
          <p:nvPr/>
        </p:nvSpPr>
        <p:spPr>
          <a:xfrm>
            <a:off x="6583680" y="4425840"/>
            <a:ext cx="118080" cy="1180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19"/>
          <p:cNvSpPr/>
          <p:nvPr/>
        </p:nvSpPr>
        <p:spPr>
          <a:xfrm>
            <a:off x="6858000" y="4270320"/>
            <a:ext cx="44798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4eeed"/>
                </a:solidFill>
                <a:latin typeface="Calibri"/>
                <a:ea typeface="Calibri"/>
              </a:rPr>
              <a:t>This was a short-term, cross-sectional pilot (~17 min) — it shows usability, not pedagogical impact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20"/>
          <p:cNvSpPr/>
          <p:nvPr/>
        </p:nvSpPr>
        <p:spPr>
          <a:xfrm>
            <a:off x="6583680" y="5358240"/>
            <a:ext cx="118080" cy="11808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21"/>
          <p:cNvSpPr/>
          <p:nvPr/>
        </p:nvSpPr>
        <p:spPr>
          <a:xfrm>
            <a:off x="6858000" y="5203080"/>
            <a:ext cx="44798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4eeed"/>
                </a:solidFill>
                <a:latin typeface="Calibri"/>
                <a:ea typeface="Calibri"/>
              </a:rPr>
              <a:t>Future work: longitudinal / controlled studies on debugging behavior and learning outcomes over time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22"/>
          <p:cNvSpPr/>
          <p:nvPr/>
        </p:nvSpPr>
        <p:spPr>
          <a:xfrm>
            <a:off x="11567160" y="649224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0"/>
          <p:cNvSpPr/>
          <p:nvPr/>
        </p:nvSpPr>
        <p:spPr>
          <a:xfrm>
            <a:off x="-1371600" y="-1645920"/>
            <a:ext cx="4388400" cy="4388400"/>
          </a:xfrm>
          <a:prstGeom prst="ellipse">
            <a:avLst/>
          </a:prstGeom>
          <a:solidFill>
            <a:srgbClr val="028090">
              <a:alpha val="17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1"/>
          <p:cNvSpPr/>
          <p:nvPr/>
        </p:nvSpPr>
        <p:spPr>
          <a:xfrm>
            <a:off x="9875520" y="3931920"/>
            <a:ext cx="3839760" cy="3839760"/>
          </a:xfrm>
          <a:prstGeom prst="ellipse">
            <a:avLst/>
          </a:prstGeom>
          <a:solidFill>
            <a:srgbClr val="02c39a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731520" y="1234440"/>
            <a:ext cx="105148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mbria"/>
                <a:ea typeface="Cambria"/>
              </a:rPr>
              <a:t>Thank you</a:t>
            </a:r>
            <a:endParaRPr b="0" lang="en-US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731520" y="2084760"/>
            <a:ext cx="10514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700" spc="-1" strike="noStrike">
                <a:solidFill>
                  <a:srgbClr val="9fc2bf"/>
                </a:solidFill>
                <a:latin typeface="Calibri"/>
                <a:ea typeface="Calibri"/>
              </a:rPr>
              <a:t>Questions &amp; discussion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731520" y="2724840"/>
            <a:ext cx="1828800" cy="360"/>
          </a:xfrm>
          <a:prstGeom prst="line">
            <a:avLst/>
          </a:prstGeom>
          <a:ln w="254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5"/>
          <p:cNvSpPr/>
          <p:nvPr/>
        </p:nvSpPr>
        <p:spPr>
          <a:xfrm>
            <a:off x="731520" y="3145680"/>
            <a:ext cx="99720" cy="9972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1005840" y="2971800"/>
            <a:ext cx="9600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Arturo Olivares Martos   </a:t>
            </a:r>
            <a:r>
              <a:rPr b="0" lang="en-US" sz="1350" spc="-1" strike="noStrike">
                <a:solidFill>
                  <a:srgbClr val="9fc2bf"/>
                </a:solidFill>
                <a:latin typeface="Calibri"/>
                <a:ea typeface="Calibri"/>
              </a:rPr>
              <a:t>arturoolivares@correo.ugr.es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Shape 7"/>
          <p:cNvSpPr/>
          <p:nvPr/>
        </p:nvSpPr>
        <p:spPr>
          <a:xfrm>
            <a:off x="731520" y="3620880"/>
            <a:ext cx="99720" cy="9972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1005840" y="3447360"/>
            <a:ext cx="9600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Lisa Pawlowski   </a:t>
            </a:r>
            <a:r>
              <a:rPr b="0" lang="en-US" sz="1350" spc="-1" strike="noStrike">
                <a:solidFill>
                  <a:srgbClr val="9fc2bf"/>
                </a:solidFill>
                <a:latin typeface="Calibri"/>
                <a:ea typeface="Calibri"/>
              </a:rPr>
              <a:t>lisa.pawlowski.99@stud.uni-due.de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9"/>
          <p:cNvSpPr/>
          <p:nvPr/>
        </p:nvSpPr>
        <p:spPr>
          <a:xfrm>
            <a:off x="731520" y="4096440"/>
            <a:ext cx="99720" cy="9972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10"/>
          <p:cNvSpPr/>
          <p:nvPr/>
        </p:nvSpPr>
        <p:spPr>
          <a:xfrm>
            <a:off x="1005840" y="3922920"/>
            <a:ext cx="9600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Mohamed Abdelmagied   </a:t>
            </a:r>
            <a:r>
              <a:rPr b="0" lang="en-US" sz="1350" spc="-1" strike="noStrike">
                <a:solidFill>
                  <a:srgbClr val="9fc2bf"/>
                </a:solidFill>
                <a:latin typeface="Calibri"/>
                <a:ea typeface="Calibri"/>
              </a:rPr>
              <a:t>mohamed.abdelmagied@stud.uni-due.de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11"/>
          <p:cNvSpPr/>
          <p:nvPr/>
        </p:nvSpPr>
        <p:spPr>
          <a:xfrm>
            <a:off x="731520" y="4572000"/>
            <a:ext cx="99720" cy="9972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12"/>
          <p:cNvSpPr/>
          <p:nvPr/>
        </p:nvSpPr>
        <p:spPr>
          <a:xfrm>
            <a:off x="1005840" y="4398120"/>
            <a:ext cx="9600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Kaimao Sheng   </a:t>
            </a:r>
            <a:r>
              <a:rPr b="0" lang="en-US" sz="1350" spc="-1" strike="noStrike">
                <a:solidFill>
                  <a:srgbClr val="9fc2bf"/>
                </a:solidFill>
                <a:latin typeface="Calibri"/>
                <a:ea typeface="Calibri"/>
              </a:rPr>
              <a:t>kaimao.sheng@uni-due.de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13"/>
          <p:cNvSpPr/>
          <p:nvPr/>
        </p:nvSpPr>
        <p:spPr>
          <a:xfrm>
            <a:off x="731520" y="5047560"/>
            <a:ext cx="99720" cy="99720"/>
          </a:xfrm>
          <a:prstGeom prst="ellipse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1005840" y="4873680"/>
            <a:ext cx="9600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Irene-Angelica Chounta   </a:t>
            </a:r>
            <a:r>
              <a:rPr b="0" lang="en-US" sz="1350" spc="-1" strike="noStrike">
                <a:solidFill>
                  <a:srgbClr val="9fc2bf"/>
                </a:solidFill>
                <a:latin typeface="Calibri"/>
                <a:ea typeface="Calibri"/>
              </a:rPr>
              <a:t>irene-angelica.chounta@uni-due.de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7369920" y="660960"/>
            <a:ext cx="1947600" cy="1961640"/>
          </a:xfrm>
          <a:prstGeom prst="rect">
            <a:avLst/>
          </a:prstGeom>
          <a:ln w="0">
            <a:noFill/>
          </a:ln>
        </p:spPr>
      </p:pic>
      <p:sp>
        <p:nvSpPr>
          <p:cNvPr id="177" name="Text 57"/>
          <p:cNvSpPr/>
          <p:nvPr/>
        </p:nvSpPr>
        <p:spPr>
          <a:xfrm>
            <a:off x="7278840" y="2608560"/>
            <a:ext cx="212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Video of the Extension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8" name="" descr=""/>
          <p:cNvPicPr/>
          <p:nvPr/>
        </p:nvPicPr>
        <p:blipFill>
          <a:blip r:embed="rId2"/>
          <a:stretch/>
        </p:blipFill>
        <p:spPr>
          <a:xfrm>
            <a:off x="7340400" y="3589200"/>
            <a:ext cx="2007000" cy="2028600"/>
          </a:xfrm>
          <a:prstGeom prst="rect">
            <a:avLst/>
          </a:prstGeom>
          <a:ln w="0">
            <a:noFill/>
          </a:ln>
        </p:spPr>
      </p:pic>
      <p:sp>
        <p:nvSpPr>
          <p:cNvPr id="179" name="Text 58"/>
          <p:cNvSpPr/>
          <p:nvPr/>
        </p:nvSpPr>
        <p:spPr>
          <a:xfrm>
            <a:off x="7278840" y="5617080"/>
            <a:ext cx="212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https://colaps.team/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548640" y="38412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97" strike="noStrike">
                <a:solidFill>
                  <a:srgbClr val="028090"/>
                </a:solidFill>
                <a:latin typeface="Calibri"/>
                <a:ea typeface="Calibri"/>
              </a:rPr>
              <a:t>APPROACH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548640" y="658440"/>
            <a:ext cx="110635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b2540"/>
                </a:solidFill>
                <a:latin typeface="Cambria"/>
                <a:ea typeface="Cambria"/>
              </a:rPr>
              <a:t>Reflection cues, not performance grades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548640" y="1508760"/>
            <a:ext cx="10880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6302e"/>
                </a:solidFill>
                <a:latin typeface="Calibri"/>
                <a:ea typeface="Calibri"/>
              </a:rPr>
              <a:t>Six visualization panels turn raw telemetry into cues students can act on — each with a Help button offering cautious interpretation and next steps.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548640" y="2331720"/>
            <a:ext cx="3501360" cy="153540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4"/>
          <p:cNvSpPr/>
          <p:nvPr/>
        </p:nvSpPr>
        <p:spPr>
          <a:xfrm>
            <a:off x="749880" y="253296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2e9e6e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5"/>
          <p:cNvSpPr/>
          <p:nvPr/>
        </p:nvSpPr>
        <p:spPr>
          <a:xfrm>
            <a:off x="877680" y="2660760"/>
            <a:ext cx="127440" cy="127440"/>
          </a:xfrm>
          <a:prstGeom prst="ellipse">
            <a:avLst/>
          </a:prstGeom>
          <a:solidFill>
            <a:srgbClr val="2e9e6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6"/>
          <p:cNvSpPr/>
          <p:nvPr/>
        </p:nvSpPr>
        <p:spPr>
          <a:xfrm>
            <a:off x="749880" y="3008520"/>
            <a:ext cx="3099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540"/>
                </a:solidFill>
                <a:latin typeface="Cambria"/>
                <a:ea typeface="Cambria"/>
              </a:rPr>
              <a:t>Progress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7"/>
          <p:cNvSpPr/>
          <p:nvPr/>
        </p:nvSpPr>
        <p:spPr>
          <a:xfrm>
            <a:off x="749880" y="3300840"/>
            <a:ext cx="3099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7c79"/>
                </a:solidFill>
                <a:latin typeface="Calibri"/>
                <a:ea typeface="Calibri"/>
              </a:rPr>
              <a:t>% of code cells executed without errors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8"/>
          <p:cNvSpPr/>
          <p:nvPr/>
        </p:nvSpPr>
        <p:spPr>
          <a:xfrm>
            <a:off x="4325040" y="2331720"/>
            <a:ext cx="3501360" cy="153540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9"/>
          <p:cNvSpPr/>
          <p:nvPr/>
        </p:nvSpPr>
        <p:spPr>
          <a:xfrm>
            <a:off x="4526280" y="253296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c1443c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10"/>
          <p:cNvSpPr/>
          <p:nvPr/>
        </p:nvSpPr>
        <p:spPr>
          <a:xfrm>
            <a:off x="4654440" y="2660760"/>
            <a:ext cx="127440" cy="127440"/>
          </a:xfrm>
          <a:prstGeom prst="ellipse">
            <a:avLst/>
          </a:prstGeom>
          <a:solidFill>
            <a:srgbClr val="c144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11"/>
          <p:cNvSpPr/>
          <p:nvPr/>
        </p:nvSpPr>
        <p:spPr>
          <a:xfrm>
            <a:off x="4526280" y="3008520"/>
            <a:ext cx="3099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540"/>
                </a:solidFill>
                <a:latin typeface="Cambria"/>
                <a:ea typeface="Cambria"/>
              </a:rPr>
              <a:t>Error rate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12"/>
          <p:cNvSpPr/>
          <p:nvPr/>
        </p:nvSpPr>
        <p:spPr>
          <a:xfrm>
            <a:off x="4526280" y="3300840"/>
            <a:ext cx="3099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7c79"/>
                </a:solidFill>
                <a:latin typeface="Calibri"/>
                <a:ea typeface="Calibri"/>
              </a:rPr>
              <a:t>Failed executions / total executions, color-graded 0–100%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3"/>
          <p:cNvSpPr/>
          <p:nvPr/>
        </p:nvSpPr>
        <p:spPr>
          <a:xfrm>
            <a:off x="8101440" y="2331720"/>
            <a:ext cx="3501360" cy="153540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4"/>
          <p:cNvSpPr/>
          <p:nvPr/>
        </p:nvSpPr>
        <p:spPr>
          <a:xfrm>
            <a:off x="8302680" y="253296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028090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Shape 15"/>
          <p:cNvSpPr/>
          <p:nvPr/>
        </p:nvSpPr>
        <p:spPr>
          <a:xfrm>
            <a:off x="8430840" y="2660760"/>
            <a:ext cx="127440" cy="127440"/>
          </a:xfrm>
          <a:prstGeom prst="ellipse">
            <a:avLst/>
          </a:prstGeom>
          <a:solidFill>
            <a:srgbClr val="0280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16"/>
          <p:cNvSpPr/>
          <p:nvPr/>
        </p:nvSpPr>
        <p:spPr>
          <a:xfrm>
            <a:off x="8302680" y="3008520"/>
            <a:ext cx="3099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540"/>
                </a:solidFill>
                <a:latin typeface="Cambria"/>
                <a:ea typeface="Cambria"/>
              </a:rPr>
              <a:t>Success / Attempt / Error rate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17"/>
          <p:cNvSpPr/>
          <p:nvPr/>
        </p:nvSpPr>
        <p:spPr>
          <a:xfrm>
            <a:off x="8302680" y="3300840"/>
            <a:ext cx="3099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7c79"/>
                </a:solidFill>
                <a:latin typeface="Calibri"/>
                <a:ea typeface="Calibri"/>
              </a:rPr>
              <a:t>Classifies every cell by outcome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8"/>
          <p:cNvSpPr/>
          <p:nvPr/>
        </p:nvSpPr>
        <p:spPr>
          <a:xfrm>
            <a:off x="548640" y="4123800"/>
            <a:ext cx="3501360" cy="153540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9"/>
          <p:cNvSpPr/>
          <p:nvPr/>
        </p:nvSpPr>
        <p:spPr>
          <a:xfrm>
            <a:off x="749880" y="432504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e0a72a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20"/>
          <p:cNvSpPr/>
          <p:nvPr/>
        </p:nvSpPr>
        <p:spPr>
          <a:xfrm>
            <a:off x="877680" y="4453200"/>
            <a:ext cx="127440" cy="127440"/>
          </a:xfrm>
          <a:prstGeom prst="ellipse">
            <a:avLst/>
          </a:prstGeom>
          <a:solidFill>
            <a:srgbClr val="e0a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21"/>
          <p:cNvSpPr/>
          <p:nvPr/>
        </p:nvSpPr>
        <p:spPr>
          <a:xfrm>
            <a:off x="749880" y="4800600"/>
            <a:ext cx="3099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540"/>
                </a:solidFill>
                <a:latin typeface="Cambria"/>
                <a:ea typeface="Cambria"/>
              </a:rPr>
              <a:t>Top error &amp; attempt cells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22"/>
          <p:cNvSpPr/>
          <p:nvPr/>
        </p:nvSpPr>
        <p:spPr>
          <a:xfrm>
            <a:off x="749880" y="5093280"/>
            <a:ext cx="3099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7c79"/>
                </a:solidFill>
                <a:latin typeface="Calibri"/>
                <a:ea typeface="Calibri"/>
              </a:rPr>
              <a:t>Cells with the most failures or retries, with jump-to-cell links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23"/>
          <p:cNvSpPr/>
          <p:nvPr/>
        </p:nvSpPr>
        <p:spPr>
          <a:xfrm>
            <a:off x="4325040" y="4123800"/>
            <a:ext cx="3501360" cy="153540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4"/>
          <p:cNvSpPr/>
          <p:nvPr/>
        </p:nvSpPr>
        <p:spPr>
          <a:xfrm>
            <a:off x="4526280" y="432504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00a896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25"/>
          <p:cNvSpPr/>
          <p:nvPr/>
        </p:nvSpPr>
        <p:spPr>
          <a:xfrm>
            <a:off x="4654440" y="4453200"/>
            <a:ext cx="127440" cy="127440"/>
          </a:xfrm>
          <a:prstGeom prst="ellipse">
            <a:avLst/>
          </a:prstGeom>
          <a:solidFill>
            <a:srgbClr val="00a8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26"/>
          <p:cNvSpPr/>
          <p:nvPr/>
        </p:nvSpPr>
        <p:spPr>
          <a:xfrm>
            <a:off x="4526280" y="4800600"/>
            <a:ext cx="3099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540"/>
                </a:solidFill>
                <a:latin typeface="Cambria"/>
                <a:ea typeface="Cambria"/>
              </a:rPr>
              <a:t>Top time-consuming cells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27"/>
          <p:cNvSpPr/>
          <p:nvPr/>
        </p:nvSpPr>
        <p:spPr>
          <a:xfrm>
            <a:off x="4526280" y="5093280"/>
            <a:ext cx="3099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7c79"/>
                </a:solidFill>
                <a:latin typeface="Calibri"/>
                <a:ea typeface="Calibri"/>
              </a:rPr>
              <a:t>Cells ranked by total active focus time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28"/>
          <p:cNvSpPr/>
          <p:nvPr/>
        </p:nvSpPr>
        <p:spPr>
          <a:xfrm>
            <a:off x="8101440" y="4123800"/>
            <a:ext cx="3501360" cy="153540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ce7e6"/>
            </a:solidFill>
            <a:round/>
          </a:ln>
          <a:effectLst>
            <a:outerShdw algn="bl" blurRad="76320" dir="5400000" dist="25560" kx="0" ky="0" rotWithShape="0" sx="100000" sy="100000">
              <a:srgbClr val="1e3a38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9"/>
          <p:cNvSpPr/>
          <p:nvPr/>
        </p:nvSpPr>
        <p:spPr>
          <a:xfrm>
            <a:off x="8302680" y="432504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0b2540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30"/>
          <p:cNvSpPr/>
          <p:nvPr/>
        </p:nvSpPr>
        <p:spPr>
          <a:xfrm>
            <a:off x="8430840" y="4453200"/>
            <a:ext cx="127440" cy="127440"/>
          </a:xfrm>
          <a:prstGeom prst="ellipse">
            <a:avLst/>
          </a:prstGeom>
          <a:solidFill>
            <a:srgbClr val="0b25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31"/>
          <p:cNvSpPr/>
          <p:nvPr/>
        </p:nvSpPr>
        <p:spPr>
          <a:xfrm>
            <a:off x="8302680" y="4800600"/>
            <a:ext cx="3099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540"/>
                </a:solidFill>
                <a:latin typeface="Cambria"/>
                <a:ea typeface="Cambria"/>
              </a:rPr>
              <a:t>Execution timeline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32"/>
          <p:cNvSpPr/>
          <p:nvPr/>
        </p:nvSpPr>
        <p:spPr>
          <a:xfrm>
            <a:off x="8302680" y="5093280"/>
            <a:ext cx="3099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7c79"/>
                </a:solidFill>
                <a:latin typeface="Calibri"/>
                <a:ea typeface="Calibri"/>
              </a:rPr>
              <a:t>Chronological, color-coded dot plot of the whole session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33"/>
          <p:cNvSpPr/>
          <p:nvPr/>
        </p:nvSpPr>
        <p:spPr>
          <a:xfrm>
            <a:off x="11567160" y="649224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e7c79"/>
                </a:solidFill>
                <a:latin typeface="Calibri"/>
                <a:ea typeface="Calibri"/>
              </a:rPr>
              <a:t>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2026-08-26T09:18:04Z</dcterms:created>
  <dc:creator>PptxGenJS</dc:creator>
  <dc:description/>
  <dc:language>en-US</dc:language>
  <cp:lastModifiedBy/>
  <cp:lastPrinted>2026-08-28T12:13:21Z</cp:lastPrinted>
  <dcterms:modified xsi:type="dcterms:W3CDTF">2026-08-28T14:21:46Z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