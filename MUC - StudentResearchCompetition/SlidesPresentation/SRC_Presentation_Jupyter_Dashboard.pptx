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00AAC9D-A7B6-41D9-ACD3-7FB44608291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EBC82E-4E75-4C4B-A864-7ACC0AB188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323906-DDAD-4E1B-BC76-3C3DEEE84E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CD22D-2E0A-4F20-93F1-4BB061158C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CAF50D-4755-40C9-BA78-CE315CE69D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DCA95-8B74-4BA4-8DE1-C76F0B10FA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EF18E7-AB5F-479C-9882-07843F2BB2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5AF2E9-56C6-4498-A178-E55561EA6B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9AA029-6FF6-45FC-8026-2812B68353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4072D7-FBDB-4898-91F0-BD71A553F2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358BB4-5F8F-4CE2-8E6E-FBD9CBE875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692640" y="-1280160"/>
            <a:ext cx="4114440" cy="4114440"/>
          </a:xfrm>
          <a:prstGeom prst="ellipse">
            <a:avLst/>
          </a:prstGeom>
          <a:solidFill>
            <a:srgbClr val="028090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607040" y="4206240"/>
            <a:ext cx="2925720" cy="2925720"/>
          </a:xfrm>
          <a:prstGeom prst="ellipse">
            <a:avLst/>
          </a:prstGeom>
          <a:solidFill>
            <a:srgbClr val="02c39a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31520" y="14173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c39a"/>
                </a:solidFill>
                <a:latin typeface="Calibri"/>
                <a:ea typeface="Calibri"/>
              </a:rPr>
              <a:t>MENSCH UND COMPUTER 2026  ·  STUDENT RESEARCH COMPETITION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1874520"/>
            <a:ext cx="98751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4399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Monitoring and Understanding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399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Notebook-Based Learning with Jupyter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37033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cfe4e2"/>
                </a:solidFill>
                <a:latin typeface="Calibri"/>
                <a:ea typeface="Calibri"/>
              </a:rPr>
              <a:t>A learner-facing JupyterLab dashboard for reflective programming education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31520" y="4434840"/>
            <a:ext cx="2011680" cy="360"/>
          </a:xfrm>
          <a:prstGeom prst="line">
            <a:avLst/>
          </a:prstGeom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31520" y="46634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4eeed"/>
                </a:solidFill>
                <a:latin typeface="Calibri"/>
                <a:ea typeface="Calibri"/>
              </a:rPr>
              <a:t>Arturo Olivares Martos   ·   Lisa Pawlowski   ·   Mohamed Abdelmagied   ·   Kaimao Sheng   ·   Irene-Angelica Chounta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31520" y="50749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c2bf"/>
                </a:solidFill>
                <a:latin typeface="Calibri"/>
                <a:ea typeface="Calibri"/>
              </a:rPr>
              <a:t>Universidad de Granada  ·  Universität Duisburg-Essen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8090"/>
                </a:solidFill>
                <a:latin typeface="Calibri"/>
                <a:ea typeface="Calibri"/>
              </a:rPr>
              <a:t>MOTIVATION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The programming process is invisible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48640" y="150876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6302e"/>
                </a:solidFill>
                <a:latin typeface="Calibri"/>
                <a:ea typeface="Calibri"/>
              </a:rPr>
              <a:t>Computational notebooks are central to modern data science education. Learners repeatedly test, revise, and debug — but that process leaves no trace in a final submission.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48640" y="2606040"/>
            <a:ext cx="3501720" cy="27885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101520" dir="5400000" dist="38160" kx="0" ky="0" rotWithShape="0" sx="100000" sy="100000">
              <a:srgbClr val="1e3a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804600" y="2862000"/>
            <a:ext cx="502560" cy="502560"/>
          </a:xfrm>
          <a:prstGeom prst="ellipse">
            <a:avLst/>
          </a:prstGeom>
          <a:solidFill>
            <a:srgbClr val="0280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804600" y="2862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ambria"/>
                <a:ea typeface="Cambria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822960" y="352044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2540"/>
                </a:solidFill>
                <a:latin typeface="Cambria"/>
                <a:ea typeface="Cambria"/>
              </a:rPr>
              <a:t>Instructors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822960" y="3904560"/>
            <a:ext cx="29530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7c79"/>
                </a:solidFill>
                <a:latin typeface="Calibri"/>
                <a:ea typeface="Calibri"/>
              </a:rPr>
              <a:t>Lack visibility into how students actually work through a task — only the final notebook is visible.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4325040" y="2606040"/>
            <a:ext cx="3501720" cy="27885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101520" dir="5400000" dist="38160" kx="0" ky="0" rotWithShape="0" sx="100000" sy="100000">
              <a:srgbClr val="1e3a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4581000" y="2862000"/>
            <a:ext cx="502560" cy="502560"/>
          </a:xfrm>
          <a:prstGeom prst="ellipse">
            <a:avLst/>
          </a:prstGeom>
          <a:solidFill>
            <a:srgbClr val="0280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4581000" y="2862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4599360" y="352044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2540"/>
                </a:solidFill>
                <a:latin typeface="Cambria"/>
                <a:ea typeface="Cambria"/>
              </a:rPr>
              <a:t>Learners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4599360" y="3904560"/>
            <a:ext cx="29530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7c79"/>
                </a:solidFill>
                <a:latin typeface="Calibri"/>
                <a:ea typeface="Calibri"/>
              </a:rPr>
              <a:t>Rarely get the chance to reflect on their own workflow, error patterns, or problem-solving behavior.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8101440" y="2606040"/>
            <a:ext cx="3501720" cy="27885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101520" dir="5400000" dist="38160" kx="0" ky="0" rotWithShape="0" sx="100000" sy="100000">
              <a:srgbClr val="1e3a38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8357760" y="2862000"/>
            <a:ext cx="502560" cy="502560"/>
          </a:xfrm>
          <a:prstGeom prst="ellipse">
            <a:avLst/>
          </a:prstGeom>
          <a:solidFill>
            <a:srgbClr val="c1443c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8357760" y="2862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1443c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8375760" y="3520440"/>
            <a:ext cx="295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2540"/>
                </a:solidFill>
                <a:latin typeface="Cambria"/>
                <a:ea typeface="Cambria"/>
              </a:rPr>
              <a:t>Existing dashboards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8375760" y="3904560"/>
            <a:ext cx="29530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7c79"/>
                </a:solidFill>
                <a:latin typeface="Calibri"/>
                <a:ea typeface="Calibri"/>
              </a:rPr>
              <a:t>Mostly rely on coarse LMS-level data (grades, access logs) — not fine-grained, cell-level coding behavior.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548640" y="5623560"/>
            <a:ext cx="10881000" cy="712800"/>
          </a:xfrm>
          <a:prstGeom prst="roundRect">
            <a:avLst>
              <a:gd name="adj" fmla="val 12821"/>
            </a:avLst>
          </a:prstGeom>
          <a:solidFill>
            <a:srgbClr val="0b2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822960" y="5623560"/>
            <a:ext cx="10332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2c39a"/>
                </a:solidFill>
                <a:latin typeface="Calibri"/>
                <a:ea typeface="Calibri"/>
              </a:rPr>
              <a:t>Research question:  </a:t>
            </a: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Is the dashboard perceived as useful, easy to integrate, and usable — without imposing excessive cognitive workload?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1156716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8090"/>
                </a:solidFill>
                <a:latin typeface="Calibri"/>
                <a:ea typeface="Calibri"/>
              </a:rPr>
              <a:t>APPROACH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A telemetry pipeline built into JupyterLab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48640" y="141732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6302e"/>
                </a:solidFill>
                <a:latin typeface="Calibri"/>
                <a:ea typeface="Calibri"/>
              </a:rPr>
              <a:t>The extension captures notebook interactions live through the JupyterLab API, persists them relationally, and renders reflective visualizations back to the student.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48640" y="583164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Non-AI, learner-facing reflection interface — embedded directly in the coding environment, not a separate LMS view.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1156716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770400" y="2322000"/>
            <a:ext cx="10905120" cy="343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34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8090"/>
                </a:solidFill>
                <a:latin typeface="Calibri"/>
                <a:ea typeface="Calibri"/>
              </a:rPr>
              <a:t>APPROACH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5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The 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dashboa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rd, live 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inside 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Jupyter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Lab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 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(1/2)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6"/>
          <p:cNvSpPr/>
          <p:nvPr/>
        </p:nvSpPr>
        <p:spPr>
          <a:xfrm>
            <a:off x="548640" y="146304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6302e"/>
                </a:solidFill>
                <a:latin typeface="Calibri"/>
                <a:ea typeface="Calibri"/>
              </a:rPr>
              <a:t>Nine panels, each with its own Help button — accessible from the JupyterLab command palette while students work.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6"/>
          <p:cNvSpPr/>
          <p:nvPr/>
        </p:nvSpPr>
        <p:spPr>
          <a:xfrm>
            <a:off x="548640" y="2084760"/>
            <a:ext cx="351396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Image 5" descr="/home/claude/pptx_work/user_info.png"/>
          <p:cNvPicPr/>
          <p:nvPr/>
        </p:nvPicPr>
        <p:blipFill>
          <a:blip r:embed="rId1"/>
          <a:stretch/>
        </p:blipFill>
        <p:spPr>
          <a:xfrm>
            <a:off x="685800" y="2504880"/>
            <a:ext cx="3239640" cy="759960"/>
          </a:xfrm>
          <a:prstGeom prst="rect">
            <a:avLst/>
          </a:prstGeom>
          <a:ln w="0">
            <a:noFill/>
          </a:ln>
        </p:spPr>
      </p:pic>
      <p:sp>
        <p:nvSpPr>
          <p:cNvPr id="48" name="Text 37"/>
          <p:cNvSpPr/>
          <p:nvPr/>
        </p:nvSpPr>
        <p:spPr>
          <a:xfrm>
            <a:off x="548640" y="3721680"/>
            <a:ext cx="351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0"/>
                </a:solidFill>
                <a:latin typeface="Cambria"/>
                <a:ea typeface="Cambria"/>
              </a:rPr>
              <a:t>User information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548640" y="3922920"/>
            <a:ext cx="3513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e7c79"/>
                </a:solidFill>
                <a:latin typeface="Calibri"/>
                <a:ea typeface="Calibri"/>
              </a:rPr>
              <a:t>Anonymous ID and role (student / teacher).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4337280" y="2084760"/>
            <a:ext cx="351396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 12" descr="/home/claude/pptx_work/current_progress.png"/>
          <p:cNvPicPr/>
          <p:nvPr/>
        </p:nvPicPr>
        <p:blipFill>
          <a:blip r:embed="rId2"/>
          <a:stretch/>
        </p:blipFill>
        <p:spPr>
          <a:xfrm>
            <a:off x="4474440" y="2467440"/>
            <a:ext cx="3239640" cy="834480"/>
          </a:xfrm>
          <a:prstGeom prst="rect">
            <a:avLst/>
          </a:prstGeom>
          <a:ln w="0">
            <a:noFill/>
          </a:ln>
        </p:spPr>
      </p:pic>
      <p:sp>
        <p:nvSpPr>
          <p:cNvPr id="52" name="Text 39"/>
          <p:cNvSpPr/>
          <p:nvPr/>
        </p:nvSpPr>
        <p:spPr>
          <a:xfrm>
            <a:off x="4337280" y="3721680"/>
            <a:ext cx="351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0"/>
                </a:solidFill>
                <a:latin typeface="Cambria"/>
                <a:ea typeface="Cambria"/>
              </a:rPr>
              <a:t>Current progress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40"/>
          <p:cNvSpPr/>
          <p:nvPr/>
        </p:nvSpPr>
        <p:spPr>
          <a:xfrm>
            <a:off x="4337280" y="3922920"/>
            <a:ext cx="3513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e7c79"/>
                </a:solidFill>
                <a:latin typeface="Calibri"/>
                <a:ea typeface="Calibri"/>
              </a:rPr>
              <a:t>% of code cells executed without errors.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1"/>
          <p:cNvSpPr/>
          <p:nvPr/>
        </p:nvSpPr>
        <p:spPr>
          <a:xfrm>
            <a:off x="8125920" y="2084760"/>
            <a:ext cx="351396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Image 13" descr="/home/claude/pptx_work/success_error_attempt_rate.png"/>
          <p:cNvPicPr/>
          <p:nvPr/>
        </p:nvPicPr>
        <p:blipFill>
          <a:blip r:embed="rId3"/>
          <a:stretch/>
        </p:blipFill>
        <p:spPr>
          <a:xfrm>
            <a:off x="8263080" y="2467440"/>
            <a:ext cx="3239640" cy="834480"/>
          </a:xfrm>
          <a:prstGeom prst="rect">
            <a:avLst/>
          </a:prstGeom>
          <a:ln w="0">
            <a:noFill/>
          </a:ln>
        </p:spPr>
      </p:pic>
      <p:sp>
        <p:nvSpPr>
          <p:cNvPr id="56" name="Text 41"/>
          <p:cNvSpPr/>
          <p:nvPr/>
        </p:nvSpPr>
        <p:spPr>
          <a:xfrm>
            <a:off x="8125920" y="3721680"/>
            <a:ext cx="351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0"/>
                </a:solidFill>
                <a:latin typeface="Cambria"/>
                <a:ea typeface="Cambria"/>
              </a:rPr>
              <a:t>Success / Error / Attempt rate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2"/>
          <p:cNvSpPr/>
          <p:nvPr/>
        </p:nvSpPr>
        <p:spPr>
          <a:xfrm>
            <a:off x="8125920" y="3922920"/>
            <a:ext cx="3513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e7c79"/>
                </a:solidFill>
                <a:latin typeface="Calibri"/>
                <a:ea typeface="Calibri"/>
              </a:rPr>
              <a:t>Classifies every cell by its final outcome.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2"/>
          <p:cNvSpPr/>
          <p:nvPr/>
        </p:nvSpPr>
        <p:spPr>
          <a:xfrm>
            <a:off x="548640" y="4370760"/>
            <a:ext cx="351396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Image 14" descr="/home/claude/pptx_work/error_rate.png"/>
          <p:cNvPicPr/>
          <p:nvPr/>
        </p:nvPicPr>
        <p:blipFill>
          <a:blip r:embed="rId4"/>
          <a:stretch/>
        </p:blipFill>
        <p:spPr>
          <a:xfrm>
            <a:off x="685800" y="4597920"/>
            <a:ext cx="3239640" cy="1145520"/>
          </a:xfrm>
          <a:prstGeom prst="rect">
            <a:avLst/>
          </a:prstGeom>
          <a:ln w="0">
            <a:noFill/>
          </a:ln>
        </p:spPr>
      </p:pic>
      <p:sp>
        <p:nvSpPr>
          <p:cNvPr id="60" name="Text 43"/>
          <p:cNvSpPr/>
          <p:nvPr/>
        </p:nvSpPr>
        <p:spPr>
          <a:xfrm>
            <a:off x="548640" y="6007680"/>
            <a:ext cx="351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0"/>
                </a:solidFill>
                <a:latin typeface="Cambria"/>
                <a:ea typeface="Cambria"/>
              </a:rPr>
              <a:t>Error rate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4"/>
          <p:cNvSpPr/>
          <p:nvPr/>
        </p:nvSpPr>
        <p:spPr>
          <a:xfrm>
            <a:off x="548640" y="6208920"/>
            <a:ext cx="3513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e7c79"/>
                </a:solidFill>
                <a:latin typeface="Calibri"/>
                <a:ea typeface="Calibri"/>
              </a:rPr>
              <a:t>Failed / total executions, color-graded 0–100%.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3"/>
          <p:cNvSpPr/>
          <p:nvPr/>
        </p:nvSpPr>
        <p:spPr>
          <a:xfrm>
            <a:off x="4337280" y="4370760"/>
            <a:ext cx="351396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15" descr="/home/claude/pptx_work/top_error_cells.png"/>
          <p:cNvPicPr/>
          <p:nvPr/>
        </p:nvPicPr>
        <p:blipFill>
          <a:blip r:embed="rId5"/>
          <a:stretch/>
        </p:blipFill>
        <p:spPr>
          <a:xfrm>
            <a:off x="5269320" y="4507920"/>
            <a:ext cx="1649520" cy="1325520"/>
          </a:xfrm>
          <a:prstGeom prst="rect">
            <a:avLst/>
          </a:prstGeom>
          <a:ln w="0">
            <a:noFill/>
          </a:ln>
        </p:spPr>
      </p:pic>
      <p:sp>
        <p:nvSpPr>
          <p:cNvPr id="64" name="Text 45"/>
          <p:cNvSpPr/>
          <p:nvPr/>
        </p:nvSpPr>
        <p:spPr>
          <a:xfrm>
            <a:off x="4337280" y="6007680"/>
            <a:ext cx="351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0"/>
                </a:solidFill>
                <a:latin typeface="Cambria"/>
                <a:ea typeface="Cambria"/>
              </a:rPr>
              <a:t>Top error cells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6"/>
          <p:cNvSpPr/>
          <p:nvPr/>
        </p:nvSpPr>
        <p:spPr>
          <a:xfrm>
            <a:off x="4337280" y="6208920"/>
            <a:ext cx="3513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e7c79"/>
                </a:solidFill>
                <a:latin typeface="Calibri"/>
                <a:ea typeface="Calibri"/>
              </a:rPr>
              <a:t>Cells with the most failed executions.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34"/>
          <p:cNvSpPr/>
          <p:nvPr/>
        </p:nvSpPr>
        <p:spPr>
          <a:xfrm>
            <a:off x="8125920" y="4370760"/>
            <a:ext cx="3513960" cy="159984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Image 16" descr="/home/claude/pptx_work/top_attempt_cells.png"/>
          <p:cNvPicPr/>
          <p:nvPr/>
        </p:nvPicPr>
        <p:blipFill>
          <a:blip r:embed="rId6"/>
          <a:stretch/>
        </p:blipFill>
        <p:spPr>
          <a:xfrm>
            <a:off x="9058320" y="4507920"/>
            <a:ext cx="1649520" cy="1325520"/>
          </a:xfrm>
          <a:prstGeom prst="rect">
            <a:avLst/>
          </a:prstGeom>
          <a:ln w="0">
            <a:noFill/>
          </a:ln>
        </p:spPr>
      </p:pic>
      <p:sp>
        <p:nvSpPr>
          <p:cNvPr id="68" name="Text 47"/>
          <p:cNvSpPr/>
          <p:nvPr/>
        </p:nvSpPr>
        <p:spPr>
          <a:xfrm>
            <a:off x="8125920" y="6007680"/>
            <a:ext cx="351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b2540"/>
                </a:solidFill>
                <a:latin typeface="Cambria"/>
                <a:ea typeface="Cambria"/>
              </a:rPr>
              <a:t>Top attempt cells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48"/>
          <p:cNvSpPr/>
          <p:nvPr/>
        </p:nvSpPr>
        <p:spPr>
          <a:xfrm>
            <a:off x="8125920" y="6208920"/>
            <a:ext cx="3513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e7c79"/>
                </a:solidFill>
                <a:latin typeface="Calibri"/>
                <a:ea typeface="Calibri"/>
              </a:rPr>
              <a:t>Cells with the highest number of executions.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49"/>
          <p:cNvSpPr/>
          <p:nvPr/>
        </p:nvSpPr>
        <p:spPr>
          <a:xfrm>
            <a:off x="1156716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28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8090"/>
                </a:solidFill>
                <a:latin typeface="Calibri"/>
                <a:ea typeface="Calibri"/>
              </a:rPr>
              <a:t>APPROACH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9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The dashboard, 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live inside 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JupyterLab</a:t>
            </a: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 (2/2)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35"/>
          <p:cNvSpPr/>
          <p:nvPr/>
        </p:nvSpPr>
        <p:spPr>
          <a:xfrm>
            <a:off x="548640" y="1965960"/>
            <a:ext cx="3483360" cy="3428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88920" dir="5400000" dist="25560" kx="0" ky="0" rotWithShape="0" sx="100000" sy="100000">
              <a:srgbClr val="1e3a3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Image 6" descr="/home/claude/pptx_work/top_time_consuming_cells.png"/>
          <p:cNvPicPr/>
          <p:nvPr/>
        </p:nvPicPr>
        <p:blipFill>
          <a:blip r:embed="rId1"/>
          <a:stretch/>
        </p:blipFill>
        <p:spPr>
          <a:xfrm>
            <a:off x="777240" y="2464560"/>
            <a:ext cx="3026160" cy="2431800"/>
          </a:xfrm>
          <a:prstGeom prst="rect">
            <a:avLst/>
          </a:prstGeom>
          <a:ln w="0">
            <a:noFill/>
          </a:ln>
        </p:spPr>
      </p:pic>
      <p:sp>
        <p:nvSpPr>
          <p:cNvPr id="75" name="Text 30"/>
          <p:cNvSpPr/>
          <p:nvPr/>
        </p:nvSpPr>
        <p:spPr>
          <a:xfrm>
            <a:off x="548640" y="5504760"/>
            <a:ext cx="348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Top time-consuming cells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50"/>
          <p:cNvSpPr/>
          <p:nvPr/>
        </p:nvSpPr>
        <p:spPr>
          <a:xfrm>
            <a:off x="548640" y="5779080"/>
            <a:ext cx="3483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Cells ranked by total active focus time during the session.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36"/>
          <p:cNvSpPr/>
          <p:nvPr/>
        </p:nvSpPr>
        <p:spPr>
          <a:xfrm>
            <a:off x="4352400" y="1965960"/>
            <a:ext cx="3483360" cy="3428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88920" dir="5400000" dist="25560" kx="0" ky="0" rotWithShape="0" sx="100000" sy="100000">
              <a:srgbClr val="1e3a3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7" descr="/home/claude/pptx_work/top_common_error_types.png"/>
          <p:cNvPicPr/>
          <p:nvPr/>
        </p:nvPicPr>
        <p:blipFill>
          <a:blip r:embed="rId2"/>
          <a:stretch/>
        </p:blipFill>
        <p:spPr>
          <a:xfrm>
            <a:off x="4581000" y="2939400"/>
            <a:ext cx="3026160" cy="1482120"/>
          </a:xfrm>
          <a:prstGeom prst="rect">
            <a:avLst/>
          </a:prstGeom>
          <a:ln w="0">
            <a:noFill/>
          </a:ln>
        </p:spPr>
      </p:pic>
      <p:sp>
        <p:nvSpPr>
          <p:cNvPr id="79" name="Text 51"/>
          <p:cNvSpPr/>
          <p:nvPr/>
        </p:nvSpPr>
        <p:spPr>
          <a:xfrm>
            <a:off x="4352400" y="5504760"/>
            <a:ext cx="348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Top common error types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52"/>
          <p:cNvSpPr/>
          <p:nvPr/>
        </p:nvSpPr>
        <p:spPr>
          <a:xfrm>
            <a:off x="4352400" y="5779080"/>
            <a:ext cx="3483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Tally of specific Python exceptions (IndexError, SyntaxError…).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7"/>
          <p:cNvSpPr/>
          <p:nvPr/>
        </p:nvSpPr>
        <p:spPr>
          <a:xfrm>
            <a:off x="8156520" y="1965960"/>
            <a:ext cx="3483360" cy="3428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88920" dir="5400000" dist="25560" kx="0" ky="0" rotWithShape="0" sx="100000" sy="100000">
              <a:srgbClr val="1e3a38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Image 8" descr="/home/claude/pptx_work/execution_timeline.png"/>
          <p:cNvPicPr/>
          <p:nvPr/>
        </p:nvPicPr>
        <p:blipFill>
          <a:blip r:embed="rId3"/>
          <a:stretch/>
        </p:blipFill>
        <p:spPr>
          <a:xfrm>
            <a:off x="8385120" y="3232800"/>
            <a:ext cx="3026160" cy="895320"/>
          </a:xfrm>
          <a:prstGeom prst="rect">
            <a:avLst/>
          </a:prstGeom>
          <a:ln w="0">
            <a:noFill/>
          </a:ln>
        </p:spPr>
      </p:pic>
      <p:sp>
        <p:nvSpPr>
          <p:cNvPr id="83" name="Text 53"/>
          <p:cNvSpPr/>
          <p:nvPr/>
        </p:nvSpPr>
        <p:spPr>
          <a:xfrm>
            <a:off x="8156520" y="5504760"/>
            <a:ext cx="3483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Execution timeline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54"/>
          <p:cNvSpPr/>
          <p:nvPr/>
        </p:nvSpPr>
        <p:spPr>
          <a:xfrm>
            <a:off x="8156520" y="5779080"/>
            <a:ext cx="3483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Chronological, color-coded dot plot of the whole session (green = success, red = error).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55"/>
          <p:cNvSpPr/>
          <p:nvPr/>
        </p:nvSpPr>
        <p:spPr>
          <a:xfrm>
            <a:off x="548640" y="635508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Metrics are reflection cues, not diagnostic scores — the Help button explains each one and suggests possible next actions.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56"/>
          <p:cNvSpPr/>
          <p:nvPr/>
        </p:nvSpPr>
        <p:spPr>
          <a:xfrm>
            <a:off x="1156716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8090"/>
                </a:solidFill>
                <a:latin typeface="Calibri"/>
                <a:ea typeface="Calibri"/>
              </a:rPr>
              <a:t>EVALUATION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An exploratory, learner-centered pilot study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548640" y="1828800"/>
            <a:ext cx="512028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731520" y="1828800"/>
            <a:ext cx="1737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22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2560320" y="1828800"/>
            <a:ext cx="2880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6302e"/>
                </a:solidFill>
                <a:latin typeface="Calibri"/>
                <a:ea typeface="Calibri"/>
              </a:rPr>
              <a:t>students,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6302e"/>
                </a:solidFill>
                <a:latin typeface="Calibri"/>
                <a:ea typeface="Calibri"/>
              </a:rPr>
              <a:t>varying prior experience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548640" y="3246120"/>
            <a:ext cx="512028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731520" y="3246120"/>
            <a:ext cx="1737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~17 min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2560320" y="3246120"/>
            <a:ext cx="2880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6302e"/>
                </a:solidFill>
                <a:latin typeface="Calibri"/>
                <a:ea typeface="Calibri"/>
              </a:rPr>
              <a:t>average time spent using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6302e"/>
                </a:solidFill>
                <a:latin typeface="Calibri"/>
                <a:ea typeface="Calibri"/>
              </a:rPr>
              <a:t>the dashboard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548640" y="4663440"/>
            <a:ext cx="5120280" cy="1188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731520" y="4663440"/>
            <a:ext cx="1737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2560320" y="4663440"/>
            <a:ext cx="2880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6302e"/>
                </a:solidFill>
                <a:latin typeface="Calibri"/>
                <a:ea typeface="Calibri"/>
              </a:rPr>
              <a:t>standardized instruments: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6302e"/>
                </a:solidFill>
                <a:latin typeface="Calibri"/>
                <a:ea typeface="Calibri"/>
              </a:rPr>
              <a:t>SUS, TAM, NASA-TLX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6126480" y="1783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2540"/>
                </a:solidFill>
                <a:latin typeface="Cambria"/>
                <a:ea typeface="Cambria"/>
              </a:rPr>
              <a:t>Procedure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6126480" y="2240280"/>
            <a:ext cx="310680" cy="310680"/>
          </a:xfrm>
          <a:prstGeom prst="ellipse">
            <a:avLst/>
          </a:prstGeom>
          <a:solidFill>
            <a:srgbClr val="0b2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6126480" y="2240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6583680" y="218556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6302e"/>
                </a:solidFill>
                <a:latin typeface="Calibri"/>
                <a:ea typeface="Calibri"/>
              </a:rPr>
              <a:t>Informed consent + background questionnaire (Jupyter / Python experience)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6126480" y="3173040"/>
            <a:ext cx="310680" cy="310680"/>
          </a:xfrm>
          <a:prstGeom prst="ellipse">
            <a:avLst/>
          </a:prstGeom>
          <a:solidFill>
            <a:srgbClr val="0b2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6126480" y="3173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6583680" y="311796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6302e"/>
                </a:solidFill>
                <a:latin typeface="Calibri"/>
                <a:ea typeface="Calibri"/>
              </a:rPr>
              <a:t>Solve Python exercises in JupyterLab while the dashboard runs live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6126480" y="4105800"/>
            <a:ext cx="310680" cy="310680"/>
          </a:xfrm>
          <a:prstGeom prst="ellipse">
            <a:avLst/>
          </a:prstGeom>
          <a:solidFill>
            <a:srgbClr val="0b2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6126480" y="4105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6583680" y="405072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6302e"/>
                </a:solidFill>
                <a:latin typeface="Calibri"/>
                <a:ea typeface="Calibri"/>
              </a:rPr>
              <a:t>Post-use questionnaires: SUS (usability), TAM (usefulness &amp; ease of use), NASA-TLX (workload)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1"/>
          <p:cNvSpPr/>
          <p:nvPr/>
        </p:nvSpPr>
        <p:spPr>
          <a:xfrm>
            <a:off x="6126480" y="5038200"/>
            <a:ext cx="310680" cy="310680"/>
          </a:xfrm>
          <a:prstGeom prst="ellipse">
            <a:avLst/>
          </a:prstGeom>
          <a:solidFill>
            <a:srgbClr val="0b2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6126480" y="5038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3"/>
          <p:cNvSpPr/>
          <p:nvPr/>
        </p:nvSpPr>
        <p:spPr>
          <a:xfrm>
            <a:off x="6583680" y="4983480"/>
            <a:ext cx="5120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6302e"/>
                </a:solidFill>
                <a:latin typeface="Calibri"/>
                <a:ea typeface="Calibri"/>
              </a:rPr>
              <a:t>Descriptive statistics + exploratory Spearman correlations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4"/>
          <p:cNvSpPr/>
          <p:nvPr/>
        </p:nvSpPr>
        <p:spPr>
          <a:xfrm>
            <a:off x="548640" y="626364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e7c79"/>
                </a:solidFill>
                <a:latin typeface="Calibri"/>
                <a:ea typeface="Calibri"/>
              </a:rPr>
              <a:t>Ethics-approved study · Faculty of Computer Science, University of Duisburg-Essen (ID 2601CMPL2910)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5"/>
          <p:cNvSpPr/>
          <p:nvPr/>
        </p:nvSpPr>
        <p:spPr>
          <a:xfrm>
            <a:off x="1156716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c39a"/>
                </a:solidFill>
                <a:latin typeface="Calibri"/>
                <a:ea typeface="Calibri"/>
              </a:rPr>
              <a:t>RESULTS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Usable and low-workload — usefulness more moderate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548640" y="1691640"/>
            <a:ext cx="3501720" cy="1965600"/>
          </a:xfrm>
          <a:prstGeom prst="roundRect">
            <a:avLst>
              <a:gd name="adj" fmla="val 5581"/>
            </a:avLst>
          </a:prstGeom>
          <a:solidFill>
            <a:srgbClr val="10314d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777240" y="1856160"/>
            <a:ext cx="304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028090"/>
                </a:solidFill>
                <a:latin typeface="Cambria"/>
                <a:ea typeface="Cambria"/>
              </a:rPr>
              <a:t>65.6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777240" y="2743200"/>
            <a:ext cx="304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SUS Score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777240" y="308160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fcd"/>
                </a:solidFill>
                <a:latin typeface="Calibri"/>
                <a:ea typeface="Calibri"/>
              </a:rPr>
              <a:t>/ 100  ·  just below the 68 benchmark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4325040" y="1691640"/>
            <a:ext cx="3501720" cy="1965600"/>
          </a:xfrm>
          <a:prstGeom prst="roundRect">
            <a:avLst>
              <a:gd name="adj" fmla="val 5581"/>
            </a:avLst>
          </a:prstGeom>
          <a:solidFill>
            <a:srgbClr val="10314d"/>
          </a:solidFill>
          <a:ln w="1905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4553640" y="1856160"/>
            <a:ext cx="304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00a896"/>
                </a:solidFill>
                <a:latin typeface="Cambria"/>
                <a:ea typeface="Cambria"/>
              </a:rPr>
              <a:t>5.36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4553640" y="2743200"/>
            <a:ext cx="304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TAM Overall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4553640" y="308160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fcd"/>
                </a:solidFill>
                <a:latin typeface="Calibri"/>
                <a:ea typeface="Calibri"/>
              </a:rPr>
              <a:t>/ 7  ·  positive technology acceptance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8101440" y="1691640"/>
            <a:ext cx="3501720" cy="1965600"/>
          </a:xfrm>
          <a:prstGeom prst="roundRect">
            <a:avLst>
              <a:gd name="adj" fmla="val 5581"/>
            </a:avLst>
          </a:prstGeom>
          <a:solidFill>
            <a:srgbClr val="10314d"/>
          </a:solidFill>
          <a:ln w="1905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8330040" y="1856160"/>
            <a:ext cx="3044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02c39a"/>
                </a:solidFill>
                <a:latin typeface="Cambria"/>
                <a:ea typeface="Cambria"/>
              </a:rPr>
              <a:t>8.15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8330040" y="2743200"/>
            <a:ext cx="304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NASA-TLX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8330040" y="3081600"/>
            <a:ext cx="304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9cfcd"/>
                </a:solidFill>
                <a:latin typeface="Calibri"/>
                <a:ea typeface="Calibri"/>
              </a:rPr>
              <a:t>/ 20  ·  low-to-moderate workload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548640" y="39776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Perceived Ease of Use  vs.  Perceived Usefulness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548640" y="448056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PEOU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1325880" y="4535280"/>
            <a:ext cx="7863480" cy="301320"/>
          </a:xfrm>
          <a:prstGeom prst="roundRect">
            <a:avLst>
              <a:gd name="adj" fmla="val 15152"/>
            </a:avLst>
          </a:prstGeom>
          <a:solidFill>
            <a:srgbClr val="1b41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1325880" y="4535280"/>
            <a:ext cx="6492960" cy="301320"/>
          </a:xfrm>
          <a:prstGeom prst="roundRect">
            <a:avLst>
              <a:gd name="adj" fmla="val 15152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7362000" y="448056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0"/>
                </a:solidFill>
                <a:latin typeface="Calibri"/>
                <a:ea typeface="Calibri"/>
              </a:rPr>
              <a:t>5.78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548640" y="504756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PU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1325880" y="5102280"/>
            <a:ext cx="7863480" cy="301320"/>
          </a:xfrm>
          <a:prstGeom prst="roundRect">
            <a:avLst>
              <a:gd name="adj" fmla="val 15152"/>
            </a:avLst>
          </a:prstGeom>
          <a:solidFill>
            <a:srgbClr val="1b41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1325880" y="5102280"/>
            <a:ext cx="5537880" cy="301320"/>
          </a:xfrm>
          <a:prstGeom prst="roundRect">
            <a:avLst>
              <a:gd name="adj" fmla="val 15152"/>
            </a:avLst>
          </a:prstGeom>
          <a:solidFill>
            <a:srgbClr val="e0a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6406920" y="504756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b2540"/>
                </a:solidFill>
                <a:latin typeface="Calibri"/>
                <a:ea typeface="Calibri"/>
              </a:rPr>
              <a:t>4.93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548640" y="59893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fe4e2"/>
                </a:solidFill>
                <a:latin typeface="Calibri"/>
                <a:ea typeface="Calibri"/>
              </a:rPr>
              <a:t>Students found it easy to operate; its immediate value for self-reflection was less evident — some wanted more actionable, error-specific guidance.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1156716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8090"/>
                </a:solidFill>
                <a:latin typeface="Calibri"/>
                <a:ea typeface="Calibri"/>
              </a:rPr>
              <a:t>CONTRIBUTION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Visibility is only the first step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548640" y="1691640"/>
            <a:ext cx="5394600" cy="15084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777240" y="189288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777240" y="1892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1417320" y="185616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2540"/>
                </a:solidFill>
                <a:latin typeface="Cambria"/>
                <a:ea typeface="Cambria"/>
              </a:rPr>
              <a:t>A working system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1417320" y="2240280"/>
            <a:ext cx="4343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e7c79"/>
                </a:solidFill>
                <a:latin typeface="Calibri"/>
                <a:ea typeface="Calibri"/>
              </a:rPr>
              <a:t>A JupyterLab extension capturing cell-level execution, error, retry, and focus-time data directly — not coarse LMS logs.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548640" y="3383280"/>
            <a:ext cx="5394600" cy="15084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777240" y="358452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777240" y="3584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1417320" y="354780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2540"/>
                </a:solidFill>
                <a:latin typeface="Cambria"/>
                <a:ea typeface="Cambria"/>
              </a:rPr>
              <a:t>Empirical baseline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1417320" y="3931920"/>
            <a:ext cx="4343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e7c79"/>
                </a:solidFill>
                <a:latin typeface="Calibri"/>
                <a:ea typeface="Calibri"/>
              </a:rPr>
              <a:t>First learner-centered usability, usefulness, ease-of-use, and workload evidence for a fine-grained notebook dashboard (N = 22).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6263640" y="1691640"/>
            <a:ext cx="5348880" cy="4708800"/>
          </a:xfrm>
          <a:prstGeom prst="roundRect">
            <a:avLst>
              <a:gd name="adj" fmla="val 2330"/>
            </a:avLst>
          </a:prstGeom>
          <a:solidFill>
            <a:srgbClr val="0b2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6583680" y="19659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2c39a"/>
                </a:solidFill>
                <a:latin typeface="Cambria"/>
                <a:ea typeface="Cambria"/>
              </a:rPr>
              <a:t>Implications &amp; next steps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4"/>
          <p:cNvSpPr/>
          <p:nvPr/>
        </p:nvSpPr>
        <p:spPr>
          <a:xfrm>
            <a:off x="6583680" y="2560320"/>
            <a:ext cx="118440" cy="1184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6858000" y="2404800"/>
            <a:ext cx="4480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4eeed"/>
                </a:solidFill>
                <a:latin typeface="Calibri"/>
                <a:ea typeface="Calibri"/>
              </a:rPr>
              <a:t>Visibility alone isn’t enough — learners need help interpreting patterns and turning them into concrete actions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6"/>
          <p:cNvSpPr/>
          <p:nvPr/>
        </p:nvSpPr>
        <p:spPr>
          <a:xfrm>
            <a:off x="6583680" y="3493080"/>
            <a:ext cx="118440" cy="1184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6858000" y="3337560"/>
            <a:ext cx="4480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4eeed"/>
                </a:solidFill>
                <a:latin typeface="Calibri"/>
                <a:ea typeface="Calibri"/>
              </a:rPr>
              <a:t>Strengthen the Help function with more actionable, error-specific guidance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6583680" y="4425840"/>
            <a:ext cx="118440" cy="1184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6858000" y="4270320"/>
            <a:ext cx="4480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4eeed"/>
                </a:solidFill>
                <a:latin typeface="Calibri"/>
                <a:ea typeface="Calibri"/>
              </a:rPr>
              <a:t>This was a short-term, cross-sectional pilot (~17 min) — it shows usability, not pedagogical impact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0"/>
          <p:cNvSpPr/>
          <p:nvPr/>
        </p:nvSpPr>
        <p:spPr>
          <a:xfrm>
            <a:off x="6583680" y="5358240"/>
            <a:ext cx="118440" cy="1184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6858000" y="5203080"/>
            <a:ext cx="4480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4eeed"/>
                </a:solidFill>
                <a:latin typeface="Calibri"/>
                <a:ea typeface="Calibri"/>
              </a:rPr>
              <a:t>Future work: longitudinal / controlled studies on debugging behavior and learning outcomes over time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2"/>
          <p:cNvSpPr/>
          <p:nvPr/>
        </p:nvSpPr>
        <p:spPr>
          <a:xfrm>
            <a:off x="1156716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-1371600" y="-1645920"/>
            <a:ext cx="4388760" cy="4388760"/>
          </a:xfrm>
          <a:prstGeom prst="ellipse">
            <a:avLst/>
          </a:prstGeom>
          <a:solidFill>
            <a:srgbClr val="028090">
              <a:alpha val="17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9875520" y="3931920"/>
            <a:ext cx="3840120" cy="3840120"/>
          </a:xfrm>
          <a:prstGeom prst="ellipse">
            <a:avLst/>
          </a:prstGeom>
          <a:solidFill>
            <a:srgbClr val="02c39a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731520" y="123444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731520" y="208476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9fc2bf"/>
                </a:solidFill>
                <a:latin typeface="Calibri"/>
                <a:ea typeface="Calibri"/>
              </a:rPr>
              <a:t>Questions &amp; discussion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731520" y="2724840"/>
            <a:ext cx="1828800" cy="360"/>
          </a:xfrm>
          <a:prstGeom prst="line">
            <a:avLst/>
          </a:prstGeom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5"/>
          <p:cNvSpPr/>
          <p:nvPr/>
        </p:nvSpPr>
        <p:spPr>
          <a:xfrm>
            <a:off x="731520" y="3145680"/>
            <a:ext cx="100080" cy="1000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1005840" y="2971800"/>
            <a:ext cx="9600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Arturo Olivares Martos   </a:t>
            </a:r>
            <a:r>
              <a:rPr b="0" lang="en-US" sz="1350" spc="-1" strike="noStrike">
                <a:solidFill>
                  <a:srgbClr val="9fc2bf"/>
                </a:solidFill>
                <a:latin typeface="Calibri"/>
                <a:ea typeface="Calibri"/>
              </a:rPr>
              <a:t>arturoolivares@correo.ugr.es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7"/>
          <p:cNvSpPr/>
          <p:nvPr/>
        </p:nvSpPr>
        <p:spPr>
          <a:xfrm>
            <a:off x="731520" y="3620880"/>
            <a:ext cx="100080" cy="1000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1005840" y="3447360"/>
            <a:ext cx="9600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Lisa Pawlowski   </a:t>
            </a:r>
            <a:r>
              <a:rPr b="0" lang="en-US" sz="1350" spc="-1" strike="noStrike">
                <a:solidFill>
                  <a:srgbClr val="9fc2bf"/>
                </a:solidFill>
                <a:latin typeface="Calibri"/>
                <a:ea typeface="Calibri"/>
              </a:rPr>
              <a:t>lisa.pawlowski.99@stud.uni-due.de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731520" y="4096440"/>
            <a:ext cx="100080" cy="1000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1005840" y="3922920"/>
            <a:ext cx="9600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Mohamed Abdelmagied   </a:t>
            </a:r>
            <a:r>
              <a:rPr b="0" lang="en-US" sz="1350" spc="-1" strike="noStrike">
                <a:solidFill>
                  <a:srgbClr val="9fc2bf"/>
                </a:solidFill>
                <a:latin typeface="Calibri"/>
                <a:ea typeface="Calibri"/>
              </a:rPr>
              <a:t>mohamed.abdelmagied@stud.uni-due.de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1"/>
          <p:cNvSpPr/>
          <p:nvPr/>
        </p:nvSpPr>
        <p:spPr>
          <a:xfrm>
            <a:off x="731520" y="4572000"/>
            <a:ext cx="100080" cy="1000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1005840" y="4398120"/>
            <a:ext cx="9600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Kaimao Sheng   </a:t>
            </a:r>
            <a:r>
              <a:rPr b="0" lang="en-US" sz="1350" spc="-1" strike="noStrike">
                <a:solidFill>
                  <a:srgbClr val="9fc2bf"/>
                </a:solidFill>
                <a:latin typeface="Calibri"/>
                <a:ea typeface="Calibri"/>
              </a:rPr>
              <a:t>kaimao.sheng@uni-due.de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3"/>
          <p:cNvSpPr/>
          <p:nvPr/>
        </p:nvSpPr>
        <p:spPr>
          <a:xfrm>
            <a:off x="731520" y="5047560"/>
            <a:ext cx="100080" cy="1000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1005840" y="4873680"/>
            <a:ext cx="9600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Irene-Angelica Chounta   </a:t>
            </a:r>
            <a:r>
              <a:rPr b="0" lang="en-US" sz="1350" spc="-1" strike="noStrike">
                <a:solidFill>
                  <a:srgbClr val="9fc2bf"/>
                </a:solidFill>
                <a:latin typeface="Calibri"/>
                <a:ea typeface="Calibri"/>
              </a:rPr>
              <a:t>irene-angelica.chounta@uni-due.de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028090"/>
                </a:solidFill>
                <a:latin typeface="Calibri"/>
                <a:ea typeface="Calibri"/>
              </a:rPr>
              <a:t>APPROACH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b2540"/>
                </a:solidFill>
                <a:latin typeface="Cambria"/>
                <a:ea typeface="Cambria"/>
              </a:rPr>
              <a:t>Reflection cues, not performance grades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548640" y="150876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6302e"/>
                </a:solidFill>
                <a:latin typeface="Calibri"/>
                <a:ea typeface="Calibri"/>
              </a:rPr>
              <a:t>Six visualization panels turn raw telemetry into cues students can act on — each with a Help button offering cautious interpretation and next steps.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48640" y="2331720"/>
            <a:ext cx="350172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749880" y="253296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2e9e6e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5"/>
          <p:cNvSpPr/>
          <p:nvPr/>
        </p:nvSpPr>
        <p:spPr>
          <a:xfrm>
            <a:off x="877680" y="2660760"/>
            <a:ext cx="127800" cy="127800"/>
          </a:xfrm>
          <a:prstGeom prst="ellipse">
            <a:avLst/>
          </a:prstGeom>
          <a:solidFill>
            <a:srgbClr val="2e9e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749880" y="300852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Progress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749880" y="3300840"/>
            <a:ext cx="309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7c79"/>
                </a:solidFill>
                <a:latin typeface="Calibri"/>
                <a:ea typeface="Calibri"/>
              </a:rPr>
              <a:t>% of code cells executed without errors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4325040" y="2331720"/>
            <a:ext cx="350172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4526280" y="253296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c1443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4654440" y="2660760"/>
            <a:ext cx="127800" cy="127800"/>
          </a:xfrm>
          <a:prstGeom prst="ellipse">
            <a:avLst/>
          </a:prstGeom>
          <a:solidFill>
            <a:srgbClr val="c144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4526280" y="300852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Error rate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4526280" y="3300840"/>
            <a:ext cx="309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7c79"/>
                </a:solidFill>
                <a:latin typeface="Calibri"/>
                <a:ea typeface="Calibri"/>
              </a:rPr>
              <a:t>Failed executions / total executions, color-graded 0–100%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8101440" y="2331720"/>
            <a:ext cx="350172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8302680" y="253296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28090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8430840" y="2660760"/>
            <a:ext cx="127800" cy="1278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8302680" y="300852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Success / Attempt / Error rate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8302680" y="3300840"/>
            <a:ext cx="309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7c79"/>
                </a:solidFill>
                <a:latin typeface="Calibri"/>
                <a:ea typeface="Calibri"/>
              </a:rPr>
              <a:t>Classifies every cell by outcome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548640" y="4123800"/>
            <a:ext cx="350172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749880" y="432504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e0a72a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877680" y="4453200"/>
            <a:ext cx="127800" cy="127800"/>
          </a:xfrm>
          <a:prstGeom prst="ellipse">
            <a:avLst/>
          </a:prstGeom>
          <a:solidFill>
            <a:srgbClr val="e0a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749880" y="480060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Top error &amp; attempt cells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749880" y="5093280"/>
            <a:ext cx="309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7c79"/>
                </a:solidFill>
                <a:latin typeface="Calibri"/>
                <a:ea typeface="Calibri"/>
              </a:rPr>
              <a:t>Cells with the most failures or retries, with jump-to-cell links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3"/>
          <p:cNvSpPr/>
          <p:nvPr/>
        </p:nvSpPr>
        <p:spPr>
          <a:xfrm>
            <a:off x="4325040" y="4123800"/>
            <a:ext cx="350172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4"/>
          <p:cNvSpPr/>
          <p:nvPr/>
        </p:nvSpPr>
        <p:spPr>
          <a:xfrm>
            <a:off x="4526280" y="432504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0a896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4654440" y="4453200"/>
            <a:ext cx="127800" cy="1278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4526280" y="480060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Top time-consuming cells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4526280" y="5093280"/>
            <a:ext cx="309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7c79"/>
                </a:solidFill>
                <a:latin typeface="Calibri"/>
                <a:ea typeface="Calibri"/>
              </a:rPr>
              <a:t>Cells ranked by total active focus time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8"/>
          <p:cNvSpPr/>
          <p:nvPr/>
        </p:nvSpPr>
        <p:spPr>
          <a:xfrm>
            <a:off x="8101440" y="4123800"/>
            <a:ext cx="3501720" cy="15357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7e6"/>
            </a:solidFill>
            <a:round/>
          </a:ln>
          <a:effectLst>
            <a:outerShdw algn="bl" blurRad="76320" dir="5400000" dist="25560" kx="0" ky="0" rotWithShape="0" sx="100000" sy="100000">
              <a:srgbClr val="1e3a38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9"/>
          <p:cNvSpPr/>
          <p:nvPr/>
        </p:nvSpPr>
        <p:spPr>
          <a:xfrm>
            <a:off x="8302680" y="432504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0b2540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30"/>
          <p:cNvSpPr/>
          <p:nvPr/>
        </p:nvSpPr>
        <p:spPr>
          <a:xfrm>
            <a:off x="8430840" y="4453200"/>
            <a:ext cx="127800" cy="127800"/>
          </a:xfrm>
          <a:prstGeom prst="ellipse">
            <a:avLst/>
          </a:prstGeom>
          <a:solidFill>
            <a:srgbClr val="0b2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31"/>
          <p:cNvSpPr/>
          <p:nvPr/>
        </p:nvSpPr>
        <p:spPr>
          <a:xfrm>
            <a:off x="8302680" y="4800600"/>
            <a:ext cx="3099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540"/>
                </a:solidFill>
                <a:latin typeface="Cambria"/>
                <a:ea typeface="Cambria"/>
              </a:rPr>
              <a:t>Execution timeline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8302680" y="5093280"/>
            <a:ext cx="309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7c79"/>
                </a:solidFill>
                <a:latin typeface="Calibri"/>
                <a:ea typeface="Calibri"/>
              </a:rPr>
              <a:t>Chronological, color-coded dot plot of the whole session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1156716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e7c79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2026-08-26T09:18:04Z</dcterms:created>
  <dc:creator>PptxGenJS</dc:creator>
  <dc:description/>
  <dc:language>en-US</dc:language>
  <cp:lastModifiedBy/>
  <dcterms:modified xsi:type="dcterms:W3CDTF">2026-08-26T12:05:35Z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